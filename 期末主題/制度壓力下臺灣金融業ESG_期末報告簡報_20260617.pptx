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36576"/>
          </a:xfrm>
          <a:prstGeom prst="rect">
            <a:avLst/>
          </a:prstGeom>
          <a:solidFill>
            <a:srgbClr val="CFD8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0292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707070"/>
                </a:solidFill>
                <a:latin typeface="Microsoft JhengHei"/>
                <a:ea typeface="Microsoft JhengHei"/>
                <a:cs typeface="Microsoft JhengHei"/>
              </a:rPr>
              <a:t>國立中正大學　會計與資訊科技研究所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51560"/>
            <a:ext cx="10515600" cy="1280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300" b="1">
                <a:solidFill>
                  <a:srgbClr val="185FA5"/>
                </a:solidFill>
                <a:latin typeface="Microsoft JhengHei"/>
                <a:ea typeface="Microsoft JhengHei"/>
                <a:cs typeface="Microsoft JhengHei"/>
              </a:rPr>
              <a:t>制度壓力下臺灣金融業 ESG 採行方式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185FA5"/>
                </a:solidFill>
                <a:latin typeface="Microsoft JhengHei"/>
                <a:ea typeface="Microsoft JhengHei"/>
                <a:cs typeface="Microsoft JhengHei"/>
              </a:rPr>
              <a:t>與漂綠風險判別指標之探索性研究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05156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07070"/>
                </a:solidFill>
                <a:latin typeface="Microsoft JhengHei"/>
                <a:ea typeface="Microsoft JhengHei"/>
                <a:cs typeface="Microsoft JhengHei"/>
              </a:rPr>
              <a:t>An Exploratory Study on ESG Adoption Approaches and Greenwashing-Risk Discernment Indicators of Taiwanese Financial Institutions under Institutional Pressures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49039"/>
            <a:ext cx="10515600" cy="2011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rPr>
              <a:t>研究生：鍾昀臻　（學號 614524005）</a:t>
            </a:r>
          </a:p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rPr>
              <a:t>指導教授：張碩毅 教授</a:t>
            </a:r>
          </a:p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rPr>
              <a:t>中華民國 115 年 6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4864"/>
            <a:ext cx="1115568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一、研究背景與動機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1155680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707070"/>
                </a:solidFill>
                <a:latin typeface="Microsoft JhengHei"/>
                <a:ea typeface="Microsoft JhengHei"/>
                <a:cs typeface="Microsoft JhengHei"/>
              </a:rPr>
              <a:t>制度壓力下臺灣金融業 ESG 採行方式與漂綠風險判別指標之探索性研究　|　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72800" cy="4937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2000" b="1">
                <a:solidFill>
                  <a:srgbClr val="185FA5"/>
                </a:solidFill>
                <a:latin typeface="Microsoft JhengHei"/>
                <a:ea typeface="Microsoft JhengHei"/>
                <a:cs typeface="Microsoft JhengHei"/>
              </a:rPr>
              <a:t>制度推力：永續揭露由「自願」變「法定義務」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800" b="0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rPr>
              <a:t>● 金管會永續發展路徑圖：116 完成溫室氣體盤查、118 完成確信，114 起全體上市櫃公司均須編製永續報告書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800" b="0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rPr>
              <a:t>● 截至 115/6/1，已申報 113 年度永續報告書：上市 1,042 ＋ 上櫃 852 ＝ 1,894 家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2000" b="1">
                <a:solidFill>
                  <a:srgbClr val="185FA5"/>
                </a:solidFill>
                <a:latin typeface="Microsoft JhengHei"/>
                <a:ea typeface="Microsoft JhengHei"/>
                <a:cs typeface="Microsoft JhengHei"/>
              </a:rPr>
              <a:t>問題浮現：高覆蓋率 ≠ 高品質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800" b="0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rPr>
              <a:t>● 「有申報」不等於「有落實」，更不等於「數據真實」——承諾與成效常有落差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800" b="0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rPr>
              <a:t>● 同受金管會監理、同樣編製報告書的金控，揭露品質與實質投入卻明顯有別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rPr>
              <a:t>    ‧ → 浮現「實質採行」與「形式採行」之分化現象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4864"/>
            <a:ext cx="1115568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二、研究缺口與三項探問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1155680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707070"/>
                </a:solidFill>
                <a:latin typeface="Microsoft JhengHei"/>
                <a:ea typeface="Microsoft JhengHei"/>
                <a:cs typeface="Microsoft JhengHei"/>
              </a:rPr>
              <a:t>制度壓力下臺灣金融業 ESG 採行方式與漂綠風險判別指標之探索性研究　|　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72800" cy="4937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800" b="0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rPr>
              <a:t>● 制度同形化理論預測「同壓力 → 趨同」，卻難解釋「同壓力下為何仍分化」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2000" b="1">
                <a:solidFill>
                  <a:srgbClr val="185FA5"/>
                </a:solidFill>
                <a:latin typeface="Microsoft JhengHei"/>
                <a:ea typeface="Microsoft JhengHei"/>
                <a:cs typeface="Microsoft JhengHei"/>
              </a:rPr>
              <a:t>由此引出三項相互關聯的探索性研究問題：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800" b="1">
                <a:solidFill>
                  <a:srgbClr val="185FA5"/>
                </a:solidFill>
                <a:latin typeface="Microsoft JhengHei"/>
                <a:ea typeface="Microsoft JhengHei"/>
                <a:cs typeface="Microsoft JhengHei"/>
              </a:rPr>
              <a:t>● RQ1〔因素〕哪些因素造成永續報告書呈現實質或形式採行的差異？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800" b="1">
                <a:solidFill>
                  <a:srgbClr val="0F6E56"/>
                </a:solidFill>
                <a:latin typeface="Microsoft JhengHei"/>
                <a:ea typeface="Microsoft JhengHei"/>
                <a:cs typeface="Microsoft JhengHei"/>
              </a:rPr>
              <a:t>● RQ2〔指標〕根據國內外文獻，可整理出哪些判別指標？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800" b="1">
                <a:solidFill>
                  <a:srgbClr val="854F0B"/>
                </a:solidFill>
                <a:latin typeface="Microsoft JhengHei"/>
                <a:ea typeface="Microsoft JhengHei"/>
                <a:cs typeface="Microsoft JhengHei"/>
              </a:rPr>
              <a:t>● RQ3〔檢視〕將指標套用於臺灣上市金控，示範性檢視結果如何？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rPr>
              <a:t>    ‧ 邏輯鏈：制度壓力 → 採行動機 → 採行方式 → 漂綠風險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4864"/>
            <a:ext cx="1115568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三、三項研究問題之概覽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1155680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707070"/>
                </a:solidFill>
                <a:latin typeface="Microsoft JhengHei"/>
                <a:ea typeface="Microsoft JhengHei"/>
                <a:cs typeface="Microsoft JhengHei"/>
              </a:rPr>
              <a:t>制度壓力下臺灣金融業 ESG 採行方式與漂綠風險判別指標之探索性研究　|　4</a:t>
            </a:r>
          </a:p>
        </p:txBody>
      </p:sp>
      <p:pic>
        <p:nvPicPr>
          <p:cNvPr id="6" name="Picture 5" descr="圖1_三項研究問題概覽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56050"/>
            <a:ext cx="10908792" cy="26659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943600"/>
            <a:ext cx="10908792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07070"/>
                </a:solidFill>
                <a:latin typeface="Microsoft JhengHei"/>
                <a:ea typeface="Microsoft JhengHei"/>
                <a:cs typeface="Microsoft JhengHei"/>
              </a:rPr>
              <a:t>圖 1　本研究三項研究問題之概覽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4864"/>
            <a:ext cx="1115568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四、研究目的與研究定位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1155680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707070"/>
                </a:solidFill>
                <a:latin typeface="Microsoft JhengHei"/>
                <a:ea typeface="Microsoft JhengHei"/>
                <a:cs typeface="Microsoft JhengHei"/>
              </a:rPr>
              <a:t>制度壓力下臺灣金融業 ESG 採行方式與漂綠風險判別指標之探索性研究　|　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72800" cy="4937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2000" b="1">
                <a:solidFill>
                  <a:srgbClr val="185FA5"/>
                </a:solidFill>
                <a:latin typeface="Microsoft JhengHei"/>
                <a:ea typeface="Microsoft JhengHei"/>
                <a:cs typeface="Microsoft JhengHei"/>
              </a:rPr>
              <a:t>三項研究目的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800" b="0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rPr>
              <a:t>● 揭示制度理論在「同壓力下仍分化」的解釋極限，整合脫鉤理論補足分析邏輯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800" b="0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rPr>
              <a:t>● 綜合國內外判別依據，整合為適用臺灣金融業的多維度探索性框架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800" b="0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rPr>
              <a:t>● 檢視國際漂綠研究於臺灣金融業之適用性，分析臺灣特有制度的補充意涵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2000" b="1">
                <a:solidFill>
                  <a:srgbClr val="185FA5"/>
                </a:solidFill>
                <a:latin typeface="Microsoft JhengHei"/>
                <a:ea typeface="Microsoft JhengHei"/>
                <a:cs typeface="Microsoft JhengHei"/>
              </a:rPr>
              <a:t>研究定位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800" b="0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rPr>
              <a:t>● 探索性研究：文獻歸納 ＋ 次級資料分析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800" b="0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rPr>
              <a:t>● 對比式選樣：選取永續金融評鑑入榜情形與採行深度不同之金控進行示範性檢視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4864"/>
            <a:ext cx="1115568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五、核心概念：實質採行 vs. 形式採行（表 1）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1155680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707070"/>
                </a:solidFill>
                <a:latin typeface="Microsoft JhengHei"/>
                <a:ea typeface="Microsoft JhengHei"/>
                <a:cs typeface="Microsoft JhengHei"/>
              </a:rPr>
              <a:t>制度壓力下臺灣金融業 ESG 採行方式與漂綠風險判別指標之探索性研究　|　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2327" y="1417320"/>
          <a:ext cx="106070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206240"/>
                <a:gridCol w="420624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比較面向</a:t>
                      </a:r>
                    </a:p>
                  </a:txBody>
                  <a:tcPr marL="73152" marR="54864" marT="27432" marB="27432" anchor="ctr">
                    <a:solidFill>
                      <a:srgbClr val="185F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實質採行</a:t>
                      </a:r>
                    </a:p>
                  </a:txBody>
                  <a:tcPr marL="73152" marR="54864" marT="27432" marB="27432" anchor="ctr">
                    <a:solidFill>
                      <a:srgbClr val="185F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形式採行</a:t>
                      </a:r>
                    </a:p>
                  </a:txBody>
                  <a:tcPr marL="73152" marR="54864" marT="27432" marB="27432" anchor="ctr">
                    <a:solidFill>
                      <a:srgbClr val="185FA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核心動機</a:t>
                      </a:r>
                    </a:p>
                  </a:txBody>
                  <a:tcPr marL="73152" marR="54864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永續轉型的真實信念與長期價值</a:t>
                      </a:r>
                    </a:p>
                  </a:txBody>
                  <a:tcPr marL="73152" marR="54864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為合規或回應外部壓力的象徵導向</a:t>
                      </a:r>
                    </a:p>
                  </a:txBody>
                  <a:tcPr marL="73152" marR="54864" marT="27432" marB="27432" anchor="ctr">
                    <a:solidFill>
                      <a:srgbClr val="F2F5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策略定位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ESG 融入核心營運與決策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與核心決策脫鉤，止於揭露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資源投入</a:t>
                      </a:r>
                    </a:p>
                  </a:txBody>
                  <a:tcPr marL="73152" marR="54864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專責單位、編列預算、專業人力</a:t>
                      </a:r>
                    </a:p>
                  </a:txBody>
                  <a:tcPr marL="73152" marR="54864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投入有限，多為兼辦</a:t>
                      </a:r>
                    </a:p>
                  </a:txBody>
                  <a:tcPr marL="73152" marR="54864" marT="27432" marB="27432" anchor="ctr">
                    <a:solidFill>
                      <a:srgbClr val="F2F5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目標設定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量化目標、基準年與明確時程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口號式承諾，缺具體數字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確信品質</a:t>
                      </a:r>
                    </a:p>
                  </a:txBody>
                  <a:tcPr marL="73152" marR="54864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層級高／範圍完整／超出法定</a:t>
                      </a:r>
                    </a:p>
                  </a:txBody>
                  <a:tcPr marL="73152" marR="54864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僅達最低法定要求</a:t>
                      </a:r>
                    </a:p>
                  </a:txBody>
                  <a:tcPr marL="73152" marR="54864" marT="27432" marB="27432" anchor="ctr">
                    <a:solidFill>
                      <a:srgbClr val="F2F5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漂綠風險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低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高（揭露與行動落差大）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126480"/>
            <a:ext cx="10908792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07070"/>
                </a:solidFill>
                <a:latin typeface="Microsoft JhengHei"/>
                <a:ea typeface="Microsoft JhengHei"/>
                <a:cs typeface="Microsoft JhengHei"/>
              </a:rPr>
              <a:t>關鍵：差別不在「有無 ESG」，而在「揭露與行動是否一致」——落差即構成漂綠風險。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4864"/>
            <a:ext cx="1115568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五、概念界定：漂綠 與 法規規避之區辨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1155680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707070"/>
                </a:solidFill>
                <a:latin typeface="Microsoft JhengHei"/>
                <a:ea typeface="Microsoft JhengHei"/>
                <a:cs typeface="Microsoft JhengHei"/>
              </a:rPr>
              <a:t>制度壓力下臺灣金融業 ESG 採行方式與漂綠風險判別指標之探索性研究　|　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72800" cy="4937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800" b="1">
                <a:solidFill>
                  <a:srgbClr val="0F6E56"/>
                </a:solidFill>
                <a:latin typeface="Microsoft JhengHei"/>
                <a:ea typeface="Microsoft JhengHei"/>
                <a:cs typeface="Microsoft JhengHei"/>
              </a:rPr>
              <a:t>● 漂綠（greenwashing）：「有做但做假／做表面」——對外揭露正面，實際作為與宣稱有落差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800" b="1">
                <a:solidFill>
                  <a:srgbClr val="854F0B"/>
                </a:solidFill>
                <a:latin typeface="Microsoft JhengHei"/>
                <a:ea typeface="Microsoft JhengHei"/>
                <a:cs typeface="Microsoft JhengHei"/>
              </a:rPr>
              <a:t>● 法規規避：「設法不做」——透過法律漏洞迴避義務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2000" b="1">
                <a:solidFill>
                  <a:srgbClr val="185FA5"/>
                </a:solidFill>
                <a:latin typeface="Microsoft JhengHei"/>
                <a:ea typeface="Microsoft JhengHei"/>
                <a:cs typeface="Microsoft JhengHei"/>
              </a:rPr>
              <a:t>本研究定位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800" b="0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rPr>
              <a:t>● 聚焦已推動 ESG（已編報告書）之企業，探討其採行是否實質 → 屬「漂綠」議題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800" b="0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rPr>
              <a:t>● 不處理「完全不做」的法規規避問題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2000" b="1">
                <a:solidFill>
                  <a:srgbClr val="185FA5"/>
                </a:solidFill>
                <a:latin typeface="Microsoft JhengHei"/>
                <a:ea typeface="Microsoft JhengHei"/>
                <a:cs typeface="Microsoft JhengHei"/>
              </a:rPr>
              <a:t>本研究之漂綠定義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800" b="0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rPr>
              <a:t>● 企業在 ESG 揭露上呈現正面形象，但實際採行方式與揭露內容之間存在顯著落差的行為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4864"/>
            <a:ext cx="1115568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五、ESG 與漂綠議題之發展沿革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1155680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707070"/>
                </a:solidFill>
                <a:latin typeface="Microsoft JhengHei"/>
                <a:ea typeface="Microsoft JhengHei"/>
                <a:cs typeface="Microsoft JhengHei"/>
              </a:rPr>
              <a:t>制度壓力下臺灣金融業 ESG 採行方式與漂綠風險判別指標之探索性研究　|　8</a:t>
            </a:r>
          </a:p>
        </p:txBody>
      </p:sp>
      <p:pic>
        <p:nvPicPr>
          <p:cNvPr id="6" name="Picture 5" descr="圖2_ESG與漂綠發展沿革時間軸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16183"/>
            <a:ext cx="10908792" cy="274567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943600"/>
            <a:ext cx="10908792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07070"/>
                </a:solidFill>
                <a:latin typeface="Microsoft JhengHei"/>
                <a:ea typeface="Microsoft JhengHei"/>
                <a:cs typeface="Microsoft JhengHei"/>
              </a:rPr>
              <a:t>圖 2　ESG 與漂綠議題之發展沿革時間軸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4864"/>
            <a:ext cx="1115568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五、理論基礎（一）：制度理論與制度同形化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1155680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707070"/>
                </a:solidFill>
                <a:latin typeface="Microsoft JhengHei"/>
                <a:ea typeface="Microsoft JhengHei"/>
                <a:cs typeface="Microsoft JhengHei"/>
              </a:rPr>
              <a:t>制度壓力下臺灣金融業 ESG 採行方式與漂綠風險判別指標之探索性研究　|　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72800" cy="4937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800" b="1">
                <a:solidFill>
                  <a:srgbClr val="185FA5"/>
                </a:solidFill>
                <a:latin typeface="Microsoft JhengHei"/>
                <a:ea typeface="Microsoft JhengHei"/>
                <a:cs typeface="Microsoft JhengHei"/>
              </a:rPr>
              <a:t>● DiMaggio &amp; Powell (1983)：同一制度場域的組織會因三種壓力而趨同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rPr>
              <a:t>    ‧ 強制性壓力——政府法規／資源提供者的強制要求（如金管會強制申報）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rPr>
              <a:t>    ‧ 模仿性壓力——不確定下模仿成功者（同業跟進投入 ESG）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rPr>
              <a:t>    ‧ 規範性壓力——專業團體／產業標準（TCFD、永續金融評鑑）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800" b="0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rPr>
              <a:t>● 但同形化理論主要著眼「外部壓力」，難解釋同壓力下的採行分化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800" b="0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rPr>
              <a:t>● Oliver (1991)：組織可採默從→妥協→迴避→抗拒→操縱等異質回應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4864"/>
            <a:ext cx="1115568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五、理論基礎（二）：脫鉤理論與整合視角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1155680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707070"/>
                </a:solidFill>
                <a:latin typeface="Microsoft JhengHei"/>
                <a:ea typeface="Microsoft JhengHei"/>
                <a:cs typeface="Microsoft JhengHei"/>
              </a:rPr>
              <a:t>制度壓力下臺灣金融業 ESG 採行方式與漂綠風險判別指標之探索性研究　|　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72800" cy="4937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800" b="1">
                <a:solidFill>
                  <a:srgbClr val="0F6E56"/>
                </a:solidFill>
                <a:latin typeface="Microsoft JhengHei"/>
                <a:ea typeface="Microsoft JhengHei"/>
                <a:cs typeface="Microsoft JhengHei"/>
              </a:rPr>
              <a:t>● Meyer &amp; Rowan (1977)：組織為取得正當性，表面採納制度要求、內部運作卻與之脫節 = 脫鉤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800" b="0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rPr>
              <a:t>● Bromley &amp; Powell (2012)：區分兩類脫鉤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rPr>
              <a:t>    ‧ 政策—實務脫鉤（採納卻未執行）／ 手段—目的脫鉤（執行卻與成效脫節，更難偵測）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800" b="0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rPr>
              <a:t>● Delmas &amp; Burbano (2011)：漂綠驅動因素分外部制度／組織／個人三層次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2000" b="1">
                <a:solidFill>
                  <a:srgbClr val="185FA5"/>
                </a:solidFill>
                <a:latin typeface="Microsoft JhengHei"/>
                <a:ea typeface="Microsoft JhengHei"/>
                <a:cs typeface="Microsoft JhengHei"/>
              </a:rPr>
              <a:t>整合：制度理論解釋「為何趨同」，脫鉤理論補充「為何表面合規仍與實質脫節」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4864"/>
            <a:ext cx="1115568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五、整合性概念分析架構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1155680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707070"/>
                </a:solidFill>
                <a:latin typeface="Microsoft JhengHei"/>
                <a:ea typeface="Microsoft JhengHei"/>
                <a:cs typeface="Microsoft JhengHei"/>
              </a:rPr>
              <a:t>制度壓力下臺灣金融業 ESG 採行方式與漂綠風險判別指標之探索性研究　|　11</a:t>
            </a:r>
          </a:p>
        </p:txBody>
      </p:sp>
      <p:pic>
        <p:nvPicPr>
          <p:cNvPr id="6" name="Picture 5" descr="圖3_概念性分析架構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8126" y="1325880"/>
            <a:ext cx="8292700" cy="4526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943600"/>
            <a:ext cx="10908792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07070"/>
                </a:solidFill>
                <a:latin typeface="Microsoft JhengHei"/>
                <a:ea typeface="Microsoft JhengHei"/>
                <a:cs typeface="Microsoft JhengHei"/>
              </a:rPr>
              <a:t>圖 3　本研究概念性分析架構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4864"/>
            <a:ext cx="1115568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三、文獻回顧方法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1155680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707070"/>
                </a:solidFill>
                <a:latin typeface="Microsoft JhengHei"/>
                <a:ea typeface="Microsoft JhengHei"/>
                <a:cs typeface="Microsoft JhengHei"/>
              </a:rPr>
              <a:t>制度壓力下臺灣金融業 ESG 採行方式與漂綠風險判別指標之探索性研究　|　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72800" cy="4937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800" b="0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rPr>
              <a:t>● 方法：理論導向之文獻回顧（theoretical review）＋ 主題分析（thematic analysis）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800" b="0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rPr>
              <a:t>● 搜尋：中英文資料庫，時間範圍 1977–2026（理論文獻不限年、實證以 2011 後為主）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rPr>
              <a:t>    ‧ WoS、Scopus、Google Scholar；臺灣碩博論文系統、華藝、政大典藏；金管會／證交所／TEJ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800" b="0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rPr>
              <a:t>● 篩選標準：同儕審查期刊／學位論文／官方文件；主題相關；理論適用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2000" b="1">
                <a:solidFill>
                  <a:srgbClr val="0F6E56"/>
                </a:solidFill>
                <a:latin typeface="Microsoft JhengHei"/>
                <a:ea typeface="Microsoft JhengHei"/>
                <a:cs typeface="Microsoft JhengHei"/>
              </a:rPr>
              <a:t>最終納入 25 篇學術文獻（國際期刊 21 ＋ 國內碩論 4）＋ 政策與次級資料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4864"/>
            <a:ext cx="1115568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四、文獻描述性分析（表 4）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1155680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707070"/>
                </a:solidFill>
                <a:latin typeface="Microsoft JhengHei"/>
                <a:ea typeface="Microsoft JhengHei"/>
                <a:cs typeface="Microsoft JhengHei"/>
              </a:rPr>
              <a:t>制度壓力下臺灣金融業 ESG 採行方式與漂綠風險判別指標之探索性研究　|　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72800" cy="4937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800" b="0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rPr>
              <a:t>● 年份分布：近五年（2022–2026）達 13 篇，占半數以上 → 議題快速興起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800" b="0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rPr>
              <a:t>● 研究方法：量化實證最多（約 14 篇），其次架構建構、理論建構、文獻回顧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800" b="0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rPr>
              <a:t>● 理論基礎：制度理論最多（8）、整合多理論（6）、資訊不對稱（5）、脫鉤（3）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800" b="0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rPr>
              <a:t>● 研究主題（對應 RQ）：RQ1 約 12 篇、RQ2 約 15 篇、RQ3 約 9 篇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rPr>
              <a:t>    ‧ RQ3（臺灣特有制度之補充）文獻最少 → 凸顯本研究欲填補的缺口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4864"/>
            <a:ext cx="1115568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RQ1：同壓力下的採行分化——影響因素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1155680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707070"/>
                </a:solidFill>
                <a:latin typeface="Microsoft JhengHei"/>
                <a:ea typeface="Microsoft JhengHei"/>
                <a:cs typeface="Microsoft JhengHei"/>
              </a:rPr>
              <a:t>制度壓力下臺灣金融業 ESG 採行方式與漂綠風險判別指標之探索性研究　|　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72800" cy="4937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2000" b="1">
                <a:solidFill>
                  <a:srgbClr val="185FA5"/>
                </a:solidFill>
                <a:latin typeface="Microsoft JhengHei"/>
                <a:ea typeface="Microsoft JhengHei"/>
                <a:cs typeface="Microsoft JhengHei"/>
              </a:rPr>
              <a:t>三層次影響因素（外部—組織—個人）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800" b="0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rPr>
              <a:t>● 外部制度：強制（金管會）／模仿（同業）／規範（TCFD、評鑑）三種壓力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800" b="0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rPr>
              <a:t>● 組織層次：治理結構能否將永續承諾制度化為決策權責與資源配置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800" b="0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rPr>
              <a:t>● 個人層次：管理者倫理判斷、過度樂觀偏誤 → 高估績效、低估被察覺風險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2000" b="1">
                <a:solidFill>
                  <a:srgbClr val="185FA5"/>
                </a:solidFill>
                <a:latin typeface="Microsoft JhengHei"/>
                <a:ea typeface="Microsoft JhengHei"/>
                <a:cs typeface="Microsoft JhengHei"/>
              </a:rPr>
              <a:t>關鍵洞見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800" b="0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rPr>
              <a:t>● 制度壓力未必轉化為實質投入——Kim &amp; Lyon (2015)：可能誇大（漂綠）或不當謙遜（brownwash）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rPr>
              <a:t>    ‧ 組織／個人層次證據多移植自非金融業，於金融業可轉移性仍待檢視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4864"/>
            <a:ext cx="1115568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RQ2：六項判別指標（表 5）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1155680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707070"/>
                </a:solidFill>
                <a:latin typeface="Microsoft JhengHei"/>
                <a:ea typeface="Microsoft JhengHei"/>
                <a:cs typeface="Microsoft JhengHei"/>
              </a:rPr>
              <a:t>制度壓力下臺灣金融業 ESG 採行方式與漂綠風險判別指標之探索性研究　|　15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5167" y="1417320"/>
          <a:ext cx="108813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286000"/>
                <a:gridCol w="4023360"/>
                <a:gridCol w="329184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面向</a:t>
                      </a:r>
                    </a:p>
                  </a:txBody>
                  <a:tcPr marL="73152" marR="54864" marT="27432" marB="27432" anchor="ctr">
                    <a:solidFill>
                      <a:srgbClr val="0F6E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指標</a:t>
                      </a:r>
                    </a:p>
                  </a:txBody>
                  <a:tcPr marL="73152" marR="54864" marT="27432" marB="27432" anchor="ctr">
                    <a:solidFill>
                      <a:srgbClr val="0F6E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實質採行特徵</a:t>
                      </a:r>
                    </a:p>
                  </a:txBody>
                  <a:tcPr marL="73152" marR="54864" marT="27432" marB="27432" anchor="ctr">
                    <a:solidFill>
                      <a:srgbClr val="0F6E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形式採行特徵</a:t>
                      </a:r>
                    </a:p>
                  </a:txBody>
                  <a:tcPr marL="73152" marR="54864" marT="27432" marB="27432" anchor="ctr">
                    <a:solidFill>
                      <a:srgbClr val="0F6E5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揭露面</a:t>
                      </a:r>
                    </a:p>
                  </a:txBody>
                  <a:tcPr marL="73152" marR="54864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① 揭露完整度</a:t>
                      </a:r>
                    </a:p>
                  </a:txBody>
                  <a:tcPr marL="73152" marR="54864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依 GRI／SASB／TCFD 完整對照</a:t>
                      </a:r>
                    </a:p>
                  </a:txBody>
                  <a:tcPr marL="73152" marR="54864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框架不全、對照索引缺漏</a:t>
                      </a:r>
                    </a:p>
                  </a:txBody>
                  <a:tcPr marL="73152" marR="54864" marT="27432" marB="27432" anchor="ctr">
                    <a:solidFill>
                      <a:srgbClr val="F2F5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揭露面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② 質量一致性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TESG 揭露分數≈議題分數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揭露分數高但議題分數低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確信面</a:t>
                      </a:r>
                    </a:p>
                  </a:txBody>
                  <a:tcPr marL="73152" marR="54864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③ 確信層級</a:t>
                      </a:r>
                    </a:p>
                  </a:txBody>
                  <a:tcPr marL="73152" marR="54864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合理確信／超出法定最低</a:t>
                      </a:r>
                    </a:p>
                  </a:txBody>
                  <a:tcPr marL="73152" marR="54864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僅有限確信、僅達法定</a:t>
                      </a:r>
                    </a:p>
                  </a:txBody>
                  <a:tcPr marL="73152" marR="54864" marT="27432" marB="27432" anchor="ctr">
                    <a:solidFill>
                      <a:srgbClr val="F2F5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確信面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④ 確信範圍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涵蓋 Scope 1/2 並擴及 Scope 3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僅涵蓋部分範疇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行動面</a:t>
                      </a:r>
                    </a:p>
                  </a:txBody>
                  <a:tcPr marL="73152" marR="54864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⑤ 減碳目標</a:t>
                      </a:r>
                    </a:p>
                  </a:txBody>
                  <a:tcPr marL="73152" marR="54864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量化目標、基準年、行動計畫</a:t>
                      </a:r>
                    </a:p>
                  </a:txBody>
                  <a:tcPr marL="73152" marR="54864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口號式承諾、無數字</a:t>
                      </a:r>
                    </a:p>
                  </a:txBody>
                  <a:tcPr marL="73152" marR="54864" marT="27432" marB="27432" anchor="ctr">
                    <a:solidFill>
                      <a:srgbClr val="F2F5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行動面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⑥ 承諾績效一致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前期目標已達成或有進展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年年重複口號、績效未改善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126480"/>
            <a:ext cx="10908792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07070"/>
                </a:solidFill>
                <a:latin typeface="Microsoft JhengHei"/>
                <a:ea typeface="Microsoft JhengHei"/>
                <a:cs typeface="Microsoft JhengHei"/>
              </a:rPr>
              <a:t>核心邏輯一致指向「揭露與行動是否一致」（脫鉤判準）；五項可依公開次級資料操作化。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854F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4864"/>
            <a:ext cx="1115568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RQ3：臺灣特有制度對國際理論之補充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1155680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707070"/>
                </a:solidFill>
                <a:latin typeface="Microsoft JhengHei"/>
                <a:ea typeface="Microsoft JhengHei"/>
                <a:cs typeface="Microsoft JhengHei"/>
              </a:rPr>
              <a:t>制度壓力下臺灣金融業 ESG 採行方式與漂綠風險判別指標之探索性研究　|　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72800" cy="4937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800" b="1">
                <a:solidFill>
                  <a:srgbClr val="854F0B"/>
                </a:solidFill>
                <a:latin typeface="Microsoft JhengHei"/>
                <a:ea typeface="Microsoft JhengHei"/>
                <a:cs typeface="Microsoft JhengHei"/>
              </a:rPr>
              <a:t>● 強制第三方確信 → 使指標 ③④ 在地操作化；判別重點由「有無確信」轉向「層級與範圍」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800" b="0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rPr>
              <a:t>● 永續金融評鑑 → 提供金融業內部「準自然分組」，作為對比式選樣依據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800" b="0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rPr>
              <a:t>● TESG 永續發展指標 → 提供指標 ② 的操作化基礎（惟訂閱制 → 公開可得性受限）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2000" b="1">
                <a:solidFill>
                  <a:srgbClr val="854F0B"/>
                </a:solidFill>
                <a:latin typeface="Microsoft JhengHei"/>
                <a:ea typeface="Microsoft JhengHei"/>
                <a:cs typeface="Microsoft JhengHei"/>
              </a:rPr>
              <a:t>理論意涵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800" b="0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rPr>
              <a:t>● 對 Delmas &amp; Burbano (2011)、Yu et al. (2020) 等國際框架構成「補充」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800" b="0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rPr>
              <a:t>● 臺灣將強制確信與評鑑直接嵌入監理，異於歐盟 SFDR 之「揭露中心」路徑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854F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4864"/>
            <a:ext cx="1115568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六、示範性檢視之研究設計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1155680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707070"/>
                </a:solidFill>
                <a:latin typeface="Microsoft JhengHei"/>
                <a:ea typeface="Microsoft JhengHei"/>
                <a:cs typeface="Microsoft JhengHei"/>
              </a:rPr>
              <a:t>制度壓力下臺灣金融業 ESG 採行方式與漂綠風險判別指標之探索性研究　|　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72800" cy="4937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800" b="1">
                <a:solidFill>
                  <a:srgbClr val="854F0B"/>
                </a:solidFill>
                <a:latin typeface="Microsoft JhengHei"/>
                <a:ea typeface="Microsoft JhengHei"/>
                <a:cs typeface="Microsoft JhengHei"/>
              </a:rPr>
              <a:t>● 以「對比式選樣」選取採行深度由深至淺之三家上市金控：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rPr>
              <a:t>    ‧ 玉山金控（高分組，銀行業連續三屆入榜）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rPr>
              <a:t>    ‧ 合庫金控（待觀察組，公股金控、主要子公司未列前 25%）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rPr>
              <a:t>    ‧ 國票金控（基線採行組，資產規模最小之一、SBTi 2025/3 方通過）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800" b="0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rPr>
              <a:t>● 判定依據：各公司公開之永續報告書 ＋ 第三方確信報告書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800" b="0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rPr>
              <a:t>● 六項指標中五項完成判定；② 因 TESG 屬訂閱制資料庫而未予判定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rPr>
              <a:t>    ‧ 選國票之理由獨立於六項指標（非指標性錨點）→ 避免選樣循環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854F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4864"/>
            <a:ext cx="1115568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六、示範性檢視結果（表 7）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1155680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707070"/>
                </a:solidFill>
                <a:latin typeface="Microsoft JhengHei"/>
                <a:ea typeface="Microsoft JhengHei"/>
                <a:cs typeface="Microsoft JhengHei"/>
              </a:rPr>
              <a:t>制度壓力下臺灣金融業 ESG 採行方式與漂綠風險判別指標之探索性研究　|　18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46607" y="1417320"/>
          <a:ext cx="106984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188720"/>
                <a:gridCol w="1188720"/>
                <a:gridCol w="1371600"/>
                <a:gridCol w="457200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金控</a:t>
                      </a:r>
                    </a:p>
                  </a:txBody>
                  <a:tcPr marL="73152" marR="54864" marT="27432" marB="27432" anchor="ctr">
                    <a:solidFill>
                      <a:srgbClr val="854F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判實質</a:t>
                      </a:r>
                    </a:p>
                  </a:txBody>
                  <a:tcPr marL="73152" marR="54864" marT="27432" marB="27432" anchor="ctr">
                    <a:solidFill>
                      <a:srgbClr val="854F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判形式</a:t>
                      </a:r>
                    </a:p>
                  </a:txBody>
                  <a:tcPr marL="73152" marR="54864" marT="27432" marB="27432" anchor="ctr">
                    <a:solidFill>
                      <a:srgbClr val="854F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未判定</a:t>
                      </a:r>
                    </a:p>
                  </a:txBody>
                  <a:tcPr marL="73152" marR="54864" marT="27432" marB="27432" anchor="ctr">
                    <a:solidFill>
                      <a:srgbClr val="854F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整體採行傾向</a:t>
                      </a:r>
                    </a:p>
                  </a:txBody>
                  <a:tcPr marL="73152" marR="54864" marT="27432" marB="27432" anchor="ctr">
                    <a:solidFill>
                      <a:srgbClr val="854F0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玉山（高分組）</a:t>
                      </a:r>
                    </a:p>
                  </a:txBody>
                  <a:tcPr marL="73152" marR="54864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</a:t>
                      </a:r>
                    </a:p>
                  </a:txBody>
                  <a:tcPr marL="73152" marR="54864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</a:t>
                      </a:r>
                    </a:p>
                  </a:txBody>
                  <a:tcPr marL="73152" marR="54864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1（②）</a:t>
                      </a:r>
                    </a:p>
                  </a:txBody>
                  <a:tcPr marL="73152" marR="54864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深度實質採行</a:t>
                      </a:r>
                    </a:p>
                  </a:txBody>
                  <a:tcPr marL="73152" marR="54864" marT="27432" marB="27432" anchor="ctr">
                    <a:solidFill>
                      <a:srgbClr val="F2F5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合庫（待觀察組）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1（②）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實質；確信／行動程度略低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國票（基線採行組）</a:t>
                      </a:r>
                    </a:p>
                  </a:txBody>
                  <a:tcPr marL="73152" marR="54864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</a:t>
                      </a:r>
                    </a:p>
                  </a:txBody>
                  <a:tcPr marL="73152" marR="54864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1（③）</a:t>
                      </a:r>
                    </a:p>
                  </a:txBody>
                  <a:tcPr marL="73152" marR="54864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1（②）</a:t>
                      </a:r>
                    </a:p>
                  </a:txBody>
                  <a:tcPr marL="73152" marR="54864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揭露行動實質、確信層級呈形式（部分脫鉤）</a:t>
                      </a:r>
                    </a:p>
                  </a:txBody>
                  <a:tcPr marL="73152" marR="54864" marT="27432" marB="27432" anchor="ctr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126480"/>
            <a:ext cx="10908792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07070"/>
                </a:solidFill>
                <a:latin typeface="Microsoft JhengHei"/>
                <a:ea typeface="Microsoft JhengHei"/>
                <a:cs typeface="Microsoft JhengHei"/>
              </a:rPr>
              <a:t>梯度：玉山 ＞ 合庫 ＞ 國票，分化集中於「確信深度」；指標③ 成功將國票辨為形式特徵，展現鑑別力。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4864"/>
            <a:ext cx="1115568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七、討論與研究貢獻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1155680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707070"/>
                </a:solidFill>
                <a:latin typeface="Microsoft JhengHei"/>
                <a:ea typeface="Microsoft JhengHei"/>
                <a:cs typeface="Microsoft JhengHei"/>
              </a:rPr>
              <a:t>制度壓力下臺灣金融業 ESG 採行方式與漂綠風險判別指標之探索性研究　|　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72800" cy="4937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2000" b="1">
                <a:solidFill>
                  <a:srgbClr val="185FA5"/>
                </a:solidFill>
                <a:latin typeface="Microsoft JhengHei"/>
                <a:ea typeface="Microsoft JhengHei"/>
                <a:cs typeface="Microsoft JhengHei"/>
              </a:rPr>
              <a:t>理論貢獻：三段式整合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800" b="0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rPr>
              <a:t>● Oliver (1991) 說明異質回應之可能 → 脫鉤理論補充表面合規與實質脫節之機制 → Delmas &amp; Burbano 三層次完整解釋分化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800" b="0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rPr>
              <a:t>● 在強制確信制度下，判別重點應由確信之「有無」轉向「層級與範圍」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2000" b="1">
                <a:solidFill>
                  <a:srgbClr val="185FA5"/>
                </a:solidFill>
                <a:latin typeface="Microsoft JhengHei"/>
                <a:ea typeface="Microsoft JhengHei"/>
                <a:cs typeface="Microsoft JhengHei"/>
              </a:rPr>
              <a:t>實務意涵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800" b="0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rPr>
              <a:t>● 六項指標可供主管機關（金管會／證交所）初篩漂綠風險、聚焦監理資源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800" b="0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rPr>
              <a:t>● 可供金融業作為由形式合規邁向實質轉型的自我檢視清單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rPr>
              <a:t>    ‧ 強制監理已拉高基線、擠壓形式採行空間（本身即印證強制性同形化）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4864"/>
            <a:ext cx="1115568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八、結論、限制與未來研究方向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1155680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707070"/>
                </a:solidFill>
                <a:latin typeface="Microsoft JhengHei"/>
                <a:ea typeface="Microsoft JhengHei"/>
                <a:cs typeface="Microsoft JhengHei"/>
              </a:rPr>
              <a:t>制度壓力下臺灣金融業 ESG 採行方式與漂綠風險判別指標之探索性研究　|　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72800" cy="4937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2000" b="1">
                <a:solidFill>
                  <a:srgbClr val="185FA5"/>
                </a:solidFill>
                <a:latin typeface="Microsoft JhengHei"/>
                <a:ea typeface="Microsoft JhengHei"/>
                <a:cs typeface="Microsoft JhengHei"/>
              </a:rPr>
              <a:t>結論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800" b="0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rPr>
              <a:t>● 「因素（RQ1）→ 指標（RQ2）→ 檢視（RQ3）」三位一體；五項指標可操作化，確信層級具鑑別力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2000" b="1">
                <a:solidFill>
                  <a:srgbClr val="707070"/>
                </a:solidFill>
                <a:latin typeface="Microsoft JhengHei"/>
                <a:ea typeface="Microsoft JhengHei"/>
                <a:cs typeface="Microsoft JhengHei"/>
              </a:rPr>
              <a:t>研究限制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800" b="0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rPr>
              <a:t>● 僅三家金控、單一年度；② 因 TESG 訂閱制未判定；組織／個人層次證據多來自非金融業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2000" b="1">
                <a:solidFill>
                  <a:srgbClr val="0F6E56"/>
                </a:solidFill>
                <a:latin typeface="Microsoft JhengHei"/>
                <a:ea typeface="Microsoft JhengHei"/>
                <a:cs typeface="Microsoft JhengHei"/>
              </a:rPr>
              <a:t>未來研究方向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800" b="0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rPr>
              <a:t>● 更大樣本與跨年度縱貫比較；結合內容分析／文字探勘提升客觀性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800" b="0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rPr>
              <a:t>● 檢視制度誘因（強制確信、評鑑）能否真正促成由形式轉向實質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