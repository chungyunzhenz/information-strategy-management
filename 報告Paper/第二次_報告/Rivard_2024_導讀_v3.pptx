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43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87C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OF STRATEGIC INFORMATION SYSTEMS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731520" cy="0"/>
          </a:xfrm>
          <a:prstGeom prst="line">
            <a:avLst/>
          </a:prstGeom>
          <a:noFill/>
          <a:ln w="19050">
            <a:solidFill>
              <a:srgbClr val="A87C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258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Unpacking the Process of</a:t>
            </a:r>
            <a:endParaRPr lang="en-US" sz="3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Leaping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Conduct of Literature Reviews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D4A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拆解文獻回顧中「概念躍進」的歷程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4160520"/>
            <a:ext cx="7863840" cy="0"/>
          </a:xfrm>
          <a:prstGeom prst="line">
            <a:avLst/>
          </a:prstGeom>
          <a:noFill/>
          <a:ln w="9525">
            <a:solidFill>
              <a:srgbClr val="6479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29768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Suzanne Rivard</a:t>
            </a:r>
            <a:pPr indent="0" marL="0">
              <a:buNone/>
            </a:pPr>
            <a:r>
              <a:rPr lang="en-US" sz="110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HEC Montréal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461772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導讀者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鍾昀臻</a:t>
            </a:r>
            <a:pPr indent="0" marL="0">
              <a:buNone/>
            </a:pPr>
            <a:r>
              <a:rPr lang="en-US" sz="1100" dirty="0">
                <a:solidFill>
                  <a:srgbClr val="9B9B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·   國立中正大學 會計與資訊科技研究所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E43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87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4114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0" b="1" spc="-800" kern="0" dirty="0">
                <a:solidFill>
                  <a:srgbClr val="D4A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0" dirty="0"/>
          </a:p>
        </p:txBody>
      </p:sp>
      <p:sp>
        <p:nvSpPr>
          <p:cNvPr id="4" name="Shape 2"/>
          <p:cNvSpPr/>
          <p:nvPr/>
        </p:nvSpPr>
        <p:spPr>
          <a:xfrm>
            <a:off x="4434840" y="1554480"/>
            <a:ext cx="0" cy="2103120"/>
          </a:xfrm>
          <a:prstGeom prst="line">
            <a:avLst/>
          </a:prstGeom>
          <a:noFill/>
          <a:ln w="19050">
            <a:solidFill>
              <a:srgbClr val="A87C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0" y="1554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D4A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754880" y="18745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論文摘要與報告大綱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754880" y="2606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4A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&amp; agenda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31089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B9B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這篇論文在講什麼？接下來的 20 分鐘會帶大家走過哪些段落？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95528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43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論文摘要:這篇在講什麼？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A87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 · 摘要與大綱</a:t>
            </a:r>
            <a:pPr algn="r" indent="0" marL="0">
              <a:buNone/>
            </a:pPr>
            <a:r>
              <a:rPr lang="en-US" sz="95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3 / 22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9525">
            <a:solidFill>
              <a:srgbClr val="D8CF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8229600" cy="777240"/>
          </a:xfrm>
          <a:prstGeom prst="rect">
            <a:avLst/>
          </a:prstGeom>
          <a:solidFill>
            <a:srgbClr val="2E437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6128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960120"/>
            <a:ext cx="7360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作者主張:把文獻當作質性資料，藉「概念躍進」歷程提升文獻回顧的理論貢獻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" y="1920240"/>
            <a:ext cx="82296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8CFC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920240"/>
            <a:ext cx="1280160" cy="868680"/>
          </a:xfrm>
          <a:prstGeom prst="rect">
            <a:avLst/>
          </a:prstGeom>
          <a:solidFill>
            <a:srgbClr val="ECE4D2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" y="1920240"/>
            <a:ext cx="54864" cy="868680"/>
          </a:xfrm>
          <a:prstGeom prst="rect">
            <a:avLst/>
          </a:prstGeom>
          <a:solidFill>
            <a:srgbClr val="A87C2C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192024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3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920240" y="1965960"/>
            <a:ext cx="6629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工具普及之後，純描述性文獻回顧已難以登上頂級 IS 期刊。許多作者把「努力閱讀」誤認為「深度思考」，停留在分類整理而無法產生理論貢獻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57200" y="2880360"/>
            <a:ext cx="82296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8CFC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" y="2880360"/>
            <a:ext cx="1280160" cy="868680"/>
          </a:xfrm>
          <a:prstGeom prst="rect">
            <a:avLst/>
          </a:prstGeom>
          <a:solidFill>
            <a:srgbClr val="ECE4D2"/>
          </a:solidFill>
          <a:ln/>
        </p:spPr>
      </p:sp>
      <p:sp>
        <p:nvSpPr>
          <p:cNvPr id="15" name="Shape 12"/>
          <p:cNvSpPr/>
          <p:nvPr/>
        </p:nvSpPr>
        <p:spPr>
          <a:xfrm>
            <a:off x="457200" y="2880360"/>
            <a:ext cx="54864" cy="868680"/>
          </a:xfrm>
          <a:prstGeom prst="rect">
            <a:avLst/>
          </a:prstGeom>
          <a:solidFill>
            <a:srgbClr val="A87C2C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288036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3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立場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1920240" y="2926080"/>
            <a:ext cx="6629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把文獻視為質性資料，那麼質性研究中促進概念躍進（conceptual leap）的方法，理應也能幫助文獻回顧的作者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57200" y="3840480"/>
            <a:ext cx="82296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8CFC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7200" y="3840480"/>
            <a:ext cx="1280160" cy="868680"/>
          </a:xfrm>
          <a:prstGeom prst="rect">
            <a:avLst/>
          </a:prstGeom>
          <a:solidFill>
            <a:srgbClr val="ECE4D2"/>
          </a:solidFill>
          <a:ln/>
        </p:spPr>
      </p:sp>
      <p:sp>
        <p:nvSpPr>
          <p:cNvPr id="20" name="Shape 17"/>
          <p:cNvSpPr/>
          <p:nvPr/>
        </p:nvSpPr>
        <p:spPr>
          <a:xfrm>
            <a:off x="457200" y="3840480"/>
            <a:ext cx="54864" cy="868680"/>
          </a:xfrm>
          <a:prstGeom prst="rect">
            <a:avLst/>
          </a:prstGeom>
          <a:solidFill>
            <a:srgbClr val="A87C2C"/>
          </a:solidFill>
          <a:ln/>
        </p:spPr>
      </p:sp>
      <p:sp>
        <p:nvSpPr>
          <p:cNvPr id="21" name="Text 18"/>
          <p:cNvSpPr/>
          <p:nvPr/>
        </p:nvSpPr>
        <p:spPr>
          <a:xfrm>
            <a:off x="457200" y="384048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3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框架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1920240" y="3886200"/>
            <a:ext cx="6629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借用 Klag &amp; Langley (2013) 提出的四組辯證張力——作者必須在每組對立的心智狀態之間有意識地交替、迭代，才能讓新觀念浮現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Rivard, S. (2024).  JSIS 33, 101822    ·    鍾昀臻 導讀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43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報告大綱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A87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 · 摘要與大綱</a:t>
            </a:r>
            <a:pPr algn="r" indent="0" marL="0">
              <a:buNone/>
            </a:pPr>
            <a:r>
              <a:rPr lang="en-US" sz="95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4 / 22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9525">
            <a:solidFill>
              <a:srgbClr val="D8CF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73152" cy="457200"/>
          </a:xfrm>
          <a:prstGeom prst="rect">
            <a:avLst/>
          </a:prstGeom>
          <a:solidFill>
            <a:srgbClr val="A87C2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601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A87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417320" y="1051560"/>
            <a:ext cx="0" cy="320040"/>
          </a:xfrm>
          <a:prstGeom prst="line">
            <a:avLst/>
          </a:prstGeom>
          <a:noFill/>
          <a:ln w="12700">
            <a:solidFill>
              <a:srgbClr val="D8CF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00200" y="960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7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論文摘要與報告大綱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00200" y="12070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2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（即此段）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508760"/>
            <a:ext cx="8229600" cy="0"/>
          </a:xfrm>
          <a:prstGeom prst="line">
            <a:avLst/>
          </a:prstGeom>
          <a:noFill/>
          <a:ln w="6350">
            <a:solidFill>
              <a:srgbClr val="D8CF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5544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47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417320" y="1645920"/>
            <a:ext cx="0" cy="320040"/>
          </a:xfrm>
          <a:prstGeom prst="line">
            <a:avLst/>
          </a:prstGeom>
          <a:noFill/>
          <a:ln w="12700">
            <a:solidFill>
              <a:srgbClr val="D8CF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00200" y="1554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43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問題的提出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00200" y="18013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2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頂級期刊不再接受純描述性文獻回顧；hard work vs. hard thinking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103120"/>
            <a:ext cx="8229600" cy="0"/>
          </a:xfrm>
          <a:prstGeom prst="line">
            <a:avLst/>
          </a:prstGeom>
          <a:noFill/>
          <a:ln w="6350">
            <a:solidFill>
              <a:srgbClr val="D8CF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1488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47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417320" y="2240280"/>
            <a:ext cx="0" cy="320040"/>
          </a:xfrm>
          <a:prstGeom prst="line">
            <a:avLst/>
          </a:prstGeom>
          <a:noFill/>
          <a:ln w="12700">
            <a:solidFill>
              <a:srgbClr val="D8CF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2148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43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概念躍進與辯證張力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00200" y="23957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2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什麼是 conceptual leap？四組辯證張力的核心框架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2697480"/>
            <a:ext cx="8229600" cy="0"/>
          </a:xfrm>
          <a:prstGeom prst="line">
            <a:avLst/>
          </a:prstGeom>
          <a:noFill/>
          <a:ln w="6350">
            <a:solidFill>
              <a:srgbClr val="D8CF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7432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47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1417320" y="2834640"/>
            <a:ext cx="0" cy="320040"/>
          </a:xfrm>
          <a:prstGeom prst="line">
            <a:avLst/>
          </a:prstGeom>
          <a:noFill/>
          <a:ln w="12700">
            <a:solidFill>
              <a:srgbClr val="D8CF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00200" y="2743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43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四組張力深入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600200" y="29900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2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知道-不知道、投入-抽離、刻意-機緣、自我表達-社會連結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291840"/>
            <a:ext cx="8229600" cy="0"/>
          </a:xfrm>
          <a:prstGeom prst="line">
            <a:avLst/>
          </a:prstGeom>
          <a:noFill/>
          <a:ln w="6350">
            <a:solidFill>
              <a:srgbClr val="D8CF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3375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47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1417320" y="3429000"/>
            <a:ext cx="0" cy="320040"/>
          </a:xfrm>
          <a:prstGeom prst="line">
            <a:avLst/>
          </a:prstGeom>
          <a:noFill/>
          <a:ln w="12700">
            <a:solidFill>
              <a:srgbClr val="D8CF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00200" y="3337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43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如何實踐這個過程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600200" y="35844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2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三點建議 + 寫作的角色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3886200"/>
            <a:ext cx="8229600" cy="0"/>
          </a:xfrm>
          <a:prstGeom prst="line">
            <a:avLst/>
          </a:prstGeom>
          <a:noFill/>
          <a:ln w="6350">
            <a:solidFill>
              <a:srgbClr val="D8CF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9319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47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400" dirty="0"/>
          </a:p>
        </p:txBody>
      </p:sp>
      <p:sp>
        <p:nvSpPr>
          <p:cNvPr id="32" name="Shape 30"/>
          <p:cNvSpPr/>
          <p:nvPr/>
        </p:nvSpPr>
        <p:spPr>
          <a:xfrm>
            <a:off x="1417320" y="4023360"/>
            <a:ext cx="0" cy="320040"/>
          </a:xfrm>
          <a:prstGeom prst="line">
            <a:avLst/>
          </a:prstGeom>
          <a:noFill/>
          <a:ln w="12700">
            <a:solidFill>
              <a:srgbClr val="D8CF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00200" y="3931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43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結論與導讀者觀點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600200" y="41788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2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辯證綜合的三種結果 + 個人反思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Rivard, S. (2024).  JSIS 33, 101822    ·    鍾昀臻 導讀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E43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87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4114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0" b="1" spc="-800" kern="0" dirty="0">
                <a:solidFill>
                  <a:srgbClr val="D4A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0" dirty="0"/>
          </a:p>
        </p:txBody>
      </p:sp>
      <p:sp>
        <p:nvSpPr>
          <p:cNvPr id="4" name="Shape 2"/>
          <p:cNvSpPr/>
          <p:nvPr/>
        </p:nvSpPr>
        <p:spPr>
          <a:xfrm>
            <a:off x="4434840" y="1554480"/>
            <a:ext cx="0" cy="2103120"/>
          </a:xfrm>
          <a:prstGeom prst="line">
            <a:avLst/>
          </a:prstGeom>
          <a:noFill/>
          <a:ln w="19050">
            <a:solidFill>
              <a:srgbClr val="A87C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0" y="1554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D4A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754880" y="18745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問題的提出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754880" y="2606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4A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conceptual leaping matter?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31089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B9B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為什麼頂級期刊不再接受純描述性文獻回顧？「努力閱讀」與「深度思考」的差別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95528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43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頂級期刊現在要的是什麼？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A87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 · 問題</a:t>
            </a:r>
            <a:pPr algn="r" indent="0" marL="0">
              <a:buNone/>
            </a:pPr>
            <a:r>
              <a:rPr lang="en-US" sz="95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6 / 22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9525">
            <a:solidFill>
              <a:srgbClr val="D8CF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39776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CF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977640" cy="365760"/>
          </a:xfrm>
          <a:prstGeom prst="rect">
            <a:avLst/>
          </a:prstGeom>
          <a:solidFill>
            <a:srgbClr val="ECE4D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6012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87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   期刊不再接受的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2E43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純描述性文獻回顧（descriptive review）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·  只是把找到的文獻分類、整理、摘要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·  認真記錄搜尋詞、納入排除標準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·  製作完整的概念與作者對照表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3977640" cy="1691640"/>
          </a:xfrm>
          <a:prstGeom prst="rect">
            <a:avLst/>
          </a:prstGeom>
          <a:solidFill>
            <a:srgbClr val="2E4374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96012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4A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  期刊現在期待的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892040" y="1417320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理解、解釋、建構模型的回顧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B9B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·  提出創新的研究方向與重要問題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B9B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·  發展新的概念與概念之間的連結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B9B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·  提出可供未來研究使用的框架或模型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82296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A87C2C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971800"/>
            <a:ext cx="365760" cy="3657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143000" y="29260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87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一位審稿人對某篇被拒文獻回顧的真心話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85800" y="333756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「作者把 </a:t>
            </a:r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2E4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work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（努力閱讀）誤認為 </a:t>
            </a:r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2E4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thinking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（深度思考）。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這份稿子讀了很多、整理了很多，但理論論文需要充分發展的新觀點——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這些觀點可能由閱讀觸發，但更可能源於在放鬆的環境下喝一杯咖啡的時刻。」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Rivard, S. (2024).  JSIS 33, 101822    ·    鍾昀臻 導讀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E43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87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4114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0" b="1" spc="-800" kern="0" dirty="0">
                <a:solidFill>
                  <a:srgbClr val="D4A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0" dirty="0"/>
          </a:p>
        </p:txBody>
      </p:sp>
      <p:sp>
        <p:nvSpPr>
          <p:cNvPr id="4" name="Shape 2"/>
          <p:cNvSpPr/>
          <p:nvPr/>
        </p:nvSpPr>
        <p:spPr>
          <a:xfrm>
            <a:off x="4434840" y="1554480"/>
            <a:ext cx="0" cy="2103120"/>
          </a:xfrm>
          <a:prstGeom prst="line">
            <a:avLst/>
          </a:prstGeom>
          <a:noFill/>
          <a:ln w="19050">
            <a:solidFill>
              <a:srgbClr val="A87C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0" y="1554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D4A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754880" y="18745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概念躍進與辯證張力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754880" y="2606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4A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leap &amp; the four dialectic tensions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31089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B9B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把文獻當質性資料 ／ 什麼是概念躍進？ ／ 四組辯證張力的核心框架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95528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22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43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本文的核心立場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A87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 · 框架</a:t>
            </a:r>
            <a:pPr algn="r" indent="0" marL="0">
              <a:buNone/>
            </a:pPr>
            <a:r>
              <a:rPr lang="en-US" sz="95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8 / 22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9525">
            <a:solidFill>
              <a:srgbClr val="D8CF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8229600" cy="960120"/>
          </a:xfrm>
          <a:prstGeom prst="rect">
            <a:avLst/>
          </a:prstGeom>
          <a:solidFill>
            <a:srgbClr val="2E437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887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05156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把文獻當作質性資料來分析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417320" y="1481328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A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as qualitative data  ─  review process = qualitative data analysis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2103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43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這個立場的意義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514600"/>
            <a:ext cx="8229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8CFC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2514600"/>
            <a:ext cx="54864" cy="640080"/>
          </a:xfrm>
          <a:prstGeom prst="rect">
            <a:avLst/>
          </a:prstGeom>
          <a:solidFill>
            <a:srgbClr val="A87C2C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25603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43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 ＝ 資料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743200" y="256032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「論文、書籍、會議、工作論文構成的浩瀚資料——也就是學術社群的集體知識」(Shepherd &amp; Sutcliffe, 2011)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3227832"/>
            <a:ext cx="8229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8CFC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" y="3227832"/>
            <a:ext cx="54864" cy="640080"/>
          </a:xfrm>
          <a:prstGeom prst="rect">
            <a:avLst/>
          </a:prstGeom>
          <a:solidFill>
            <a:srgbClr val="A87C2C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" y="327355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43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回顧 ＝ 分析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2743200" y="3273552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把文獻當作質性資料，那麼質性研究中促進概念躍進的方法，理應也能幫助文獻回顧的作者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3941064"/>
            <a:ext cx="8229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8CFC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7200" y="3941064"/>
            <a:ext cx="54864" cy="640080"/>
          </a:xfrm>
          <a:prstGeom prst="rect">
            <a:avLst/>
          </a:prstGeom>
          <a:solidFill>
            <a:srgbClr val="A87C2C"/>
          </a:solidFill>
          <a:ln/>
        </p:spPr>
      </p:sp>
      <p:sp>
        <p:nvSpPr>
          <p:cNvPr id="20" name="Text 17"/>
          <p:cNvSpPr/>
          <p:nvPr/>
        </p:nvSpPr>
        <p:spPr>
          <a:xfrm>
            <a:off x="685800" y="398678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43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理論基礎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2743200" y="3986784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呼應 Wolfswinkel et al. (2013) 紮根理論式文獻回顧 ／ Boell &amp; Cecez-Kecmanovic (2014) 詮釋學文獻回顧框架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Rivard, S. (2024).  JSIS 33, 101822    ·    鍾昀臻 導讀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43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什麼是「概念躍進」？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A87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 · 框架</a:t>
            </a:r>
            <a:pPr algn="r" indent="0" marL="0">
              <a:buNone/>
            </a:pPr>
            <a:r>
              <a:rPr lang="en-US" sz="95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9 / 22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9525">
            <a:solidFill>
              <a:srgbClr val="D8CF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82296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A87C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515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7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Leap  ／  概念躍進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A87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</a:t>
            </a:r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2E4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intellectual jump that generates abstract theoretical ideas from empirical data.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A87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」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從繁雜的資料跳躍到抽象理論觀念的智識跳躍</a:t>
            </a:r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— Klag &amp; Langley (2013, p. 149)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43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關鍵概念:是「過程」而非「神奇瞬間」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397764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D8CF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788920"/>
            <a:ext cx="3657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A87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   常見誤解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概念躍進 ＝ 單一神奇時刻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靈感像閃電一樣突然降臨；研究者在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「恍若入定的密集寫作期間」迸發火花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(Rivard, 2021)。然後就有了 theory。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2651760"/>
            <a:ext cx="3977640" cy="1874520"/>
          </a:xfrm>
          <a:prstGeom prst="rect">
            <a:avLst/>
          </a:prstGeom>
          <a:solidFill>
            <a:srgbClr val="2E4374"/>
          </a:solidFill>
          <a:ln/>
        </p:spPr>
      </p:sp>
      <p:sp>
        <p:nvSpPr>
          <p:cNvPr id="12" name="Shape 10"/>
          <p:cNvSpPr/>
          <p:nvPr/>
        </p:nvSpPr>
        <p:spPr>
          <a:xfrm>
            <a:off x="4709160" y="2651760"/>
            <a:ext cx="54864" cy="1874520"/>
          </a:xfrm>
          <a:prstGeom prst="rect">
            <a:avLst/>
          </a:prstGeom>
          <a:solidFill>
            <a:srgbClr val="A87C2C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2788920"/>
            <a:ext cx="3657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D4A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  Klag &amp; Langley 主張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概念躍進 ＝ 多次小躍進累積的「歷程」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B9B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「通往整合洞見的路徑往往由多個概念躍進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B9B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所標點」(p. 151)。這個歷程本身是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D4A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辯證的（dialectical）── 在對立狀態間擺盪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Rivard, S. (2024).  JSIS 33, 101822    ·    鍾昀臻 導讀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43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四組辯證張力:本文的核心框架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A87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 · 框架</a:t>
            </a:r>
            <a:pPr algn="r" indent="0" marL="0">
              <a:buNone/>
            </a:pPr>
            <a:r>
              <a:rPr lang="en-US" sz="95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10 / 22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9525">
            <a:solidFill>
              <a:srgbClr val="D8CF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252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Rivard 借用 Klag &amp; Langley (2013) 的四組辯證張力，主張作者應在每組對立的心智狀態之間「有意識地交替」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840480" cy="658368"/>
          </a:xfrm>
          <a:prstGeom prst="rect">
            <a:avLst/>
          </a:prstGeom>
          <a:solidFill>
            <a:srgbClr val="2E4374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80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</a:t>
            </a:r>
            <a:pPr indent="0" marL="0">
              <a:buNone/>
            </a:pPr>
            <a:r>
              <a:rPr lang="en-US" sz="1100" dirty="0">
                <a:solidFill>
                  <a:srgbClr val="D4A95C"/>
                </a:solidFill>
              </a:rPr>
              <a:t>  ／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知道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16550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9B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運用經驗與專業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97680" y="132588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87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⇌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846320" y="1325880"/>
            <a:ext cx="3840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2E43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380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4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Knowing</a:t>
            </a:r>
            <a:pPr indent="0" marL="0">
              <a:buNone/>
            </a:pPr>
            <a:r>
              <a:rPr lang="en-US" sz="1100" dirty="0">
                <a:solidFill>
                  <a:srgbClr val="A87C2C"/>
                </a:solidFill>
              </a:rPr>
              <a:t>  ／  </a:t>
            </a:r>
            <a:pPr indent="0" marL="0">
              <a:buNone/>
            </a:pPr>
            <a:r>
              <a:rPr lang="en-US" sz="1250" b="1" dirty="0">
                <a:solidFill>
                  <a:srgbClr val="2E43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不知道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983480" y="16550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2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擁抱懷疑、發揮素人視角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084832"/>
            <a:ext cx="3840480" cy="658368"/>
          </a:xfrm>
          <a:prstGeom prst="rect">
            <a:avLst/>
          </a:prstGeom>
          <a:solidFill>
            <a:srgbClr val="2E4374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1396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pPr indent="0" marL="0">
              <a:buNone/>
            </a:pPr>
            <a:r>
              <a:rPr lang="en-US" sz="1100" dirty="0">
                <a:solidFill>
                  <a:srgbClr val="D4A95C"/>
                </a:solidFill>
              </a:rPr>
              <a:t>  ／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投入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4360" y="24140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9B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操作資料、播下種子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297680" y="2084832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87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⇌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846320" y="2084832"/>
            <a:ext cx="3840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2E437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21396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4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Detachment</a:t>
            </a:r>
            <a:pPr indent="0" marL="0">
              <a:buNone/>
            </a:pPr>
            <a:r>
              <a:rPr lang="en-US" sz="1100" dirty="0">
                <a:solidFill>
                  <a:srgbClr val="A87C2C"/>
                </a:solidFill>
              </a:rPr>
              <a:t>  ／  </a:t>
            </a:r>
            <a:pPr indent="0" marL="0">
              <a:buNone/>
            </a:pPr>
            <a:r>
              <a:rPr lang="en-US" sz="1250" b="1" dirty="0">
                <a:solidFill>
                  <a:srgbClr val="2E43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抽離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983480" y="24140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2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孵化以培育想法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2843784"/>
            <a:ext cx="3840480" cy="658368"/>
          </a:xfrm>
          <a:prstGeom prst="rect">
            <a:avLst/>
          </a:prstGeom>
          <a:solidFill>
            <a:srgbClr val="2E4374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2898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Deliberation</a:t>
            </a:r>
            <a:pPr indent="0" marL="0">
              <a:buNone/>
            </a:pPr>
            <a:r>
              <a:rPr lang="en-US" sz="1100" dirty="0">
                <a:solidFill>
                  <a:srgbClr val="D4A95C"/>
                </a:solidFill>
              </a:rPr>
              <a:t>  ／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刻意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94360" y="31729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9B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用啟發法激盪多樣性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297680" y="2843784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87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⇌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4846320" y="2843784"/>
            <a:ext cx="3840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2E437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2898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4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Serendipity</a:t>
            </a:r>
            <a:pPr indent="0" marL="0">
              <a:buNone/>
            </a:pPr>
            <a:r>
              <a:rPr lang="en-US" sz="1100" dirty="0">
                <a:solidFill>
                  <a:srgbClr val="A87C2C"/>
                </a:solidFill>
              </a:rPr>
              <a:t>  ／  </a:t>
            </a:r>
            <a:pPr indent="0" marL="0">
              <a:buNone/>
            </a:pPr>
            <a:r>
              <a:rPr lang="en-US" sz="1250" b="1" dirty="0">
                <a:solidFill>
                  <a:srgbClr val="2E43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機緣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983480" y="31729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2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利用偶然注入新意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3602736"/>
            <a:ext cx="3840480" cy="658368"/>
          </a:xfrm>
          <a:prstGeom prst="rect">
            <a:avLst/>
          </a:prstGeom>
          <a:solidFill>
            <a:srgbClr val="2E4374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Self-expression</a:t>
            </a:r>
            <a:pPr indent="0" marL="0">
              <a:buNone/>
            </a:pPr>
            <a:r>
              <a:rPr lang="en-US" sz="1100" dirty="0">
                <a:solidFill>
                  <a:srgbClr val="D4A95C"/>
                </a:solidFill>
              </a:rPr>
              <a:t>  ／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自我表達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94360" y="39319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9B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運用主觀創造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297680" y="3602736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87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⇌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4846320" y="3602736"/>
            <a:ext cx="3840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2E437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4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Connection</a:t>
            </a:r>
            <a:pPr indent="0" marL="0">
              <a:buNone/>
            </a:pPr>
            <a:r>
              <a:rPr lang="en-US" sz="1100" dirty="0">
                <a:solidFill>
                  <a:srgbClr val="A87C2C"/>
                </a:solidFill>
              </a:rPr>
              <a:t>  ／  </a:t>
            </a:r>
            <a:pPr indent="0" marL="0">
              <a:buNone/>
            </a:pPr>
            <a:r>
              <a:rPr lang="en-US" sz="1250" b="1" dirty="0">
                <a:solidFill>
                  <a:srgbClr val="2E43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社會連結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983480" y="39319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2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運用同儕鑲嵌性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45902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資料來源:Klag &amp; Langley (2013, p. 152), Table 1，經 Rivard (2024) 改寫應用於文獻回顧情境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Rivard, S. (2024).  JSIS 33, 101822    ·    鍾昀臻 導讀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E43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87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4114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0" b="1" spc="-800" kern="0" dirty="0">
                <a:solidFill>
                  <a:srgbClr val="D4A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0" dirty="0"/>
          </a:p>
        </p:txBody>
      </p:sp>
      <p:sp>
        <p:nvSpPr>
          <p:cNvPr id="4" name="Shape 2"/>
          <p:cNvSpPr/>
          <p:nvPr/>
        </p:nvSpPr>
        <p:spPr>
          <a:xfrm>
            <a:off x="4434840" y="1554480"/>
            <a:ext cx="0" cy="2103120"/>
          </a:xfrm>
          <a:prstGeom prst="line">
            <a:avLst/>
          </a:prstGeom>
          <a:noFill/>
          <a:ln w="19050">
            <a:solidFill>
              <a:srgbClr val="A87C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0" y="1554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D4A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754880" y="18745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四組張力深入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754880" y="2606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4A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Diving into the four dialectic tensions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31089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B9B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逐一展開四組張力的內涵、工具與作者親身案例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95528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43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張力 ①  知道 vs. 不知道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A87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· 張力深入</a:t>
            </a:r>
            <a:pPr algn="r" indent="0" marL="0">
              <a:buNone/>
            </a:pPr>
            <a:r>
              <a:rPr lang="en-US" sz="95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12 / 22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9525">
            <a:solidFill>
              <a:srgbClr val="D8CF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solidFill>
            <a:srgbClr val="1F2F5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Knowing ＝ 運用經驗與專業    ｜    Not Knowing ＝ 擁抱懷疑、發揮素人視角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3977640" cy="3108960"/>
          </a:xfrm>
          <a:prstGeom prst="rect">
            <a:avLst/>
          </a:prstGeom>
          <a:solidFill>
            <a:srgbClr val="2E4374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463040"/>
            <a:ext cx="3977640" cy="384048"/>
          </a:xfrm>
          <a:prstGeom prst="rect">
            <a:avLst/>
          </a:prstGeom>
          <a:solidFill>
            <a:srgbClr val="1F2F54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6304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4A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Knowing  ／  專家視角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1965960"/>
            <a:ext cx="36576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D4A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優勢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B9B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已掌握領域關鍵作者、核心概念、重要理論、爭點所在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D4A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風險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B9B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熟悉感成為偏誤的來源——可能阻礙從文獻中發現新事物，甚至不再認真閱讀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D4A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該怎麼做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B9B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用累積的知識去評估「不知道」狀態下的發現；判斷哪些張力值得進一步探索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09160" y="1463040"/>
            <a:ext cx="3977640" cy="3108960"/>
          </a:xfrm>
          <a:prstGeom prst="rect">
            <a:avLst/>
          </a:prstGeom>
          <a:solidFill>
            <a:srgbClr val="FFFFFF"/>
          </a:solidFill>
          <a:ln w="15875">
            <a:solidFill>
              <a:srgbClr val="2E437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463040"/>
            <a:ext cx="3977640" cy="384048"/>
          </a:xfrm>
          <a:prstGeom prst="rect">
            <a:avLst/>
          </a:prstGeom>
          <a:solidFill>
            <a:srgbClr val="ECE4D2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146304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43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Not Knowing  ／  素人視角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892040" y="1965960"/>
            <a:ext cx="36576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A87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核心動作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刻意「暫停既有信念」(willful suspension of belief)，用一雙新的眼睛重讀文獻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A87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具體技巧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Wolfswinkel et al. (2014) 建議:找到所有相關文獻後，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E43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「隨機」挑選每篇文獻來讀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（而不是按年代、字母、子領域順序）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A87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目標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察覺文獻中的「張力、對立、矛盾」(Shepherd &amp; Sutcliffe, 2011)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Rivard, S. (2024).  JSIS 33, 101822    ·    鍾昀臻 導讀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43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張力 ②  投入 vs. 抽離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A87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· 張力深入</a:t>
            </a:r>
            <a:pPr algn="r" indent="0" marL="0">
              <a:buNone/>
            </a:pPr>
            <a:r>
              <a:rPr lang="en-US" sz="95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13 / 22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9525">
            <a:solidFill>
              <a:srgbClr val="D8CF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solidFill>
            <a:srgbClr val="1F2F5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Engagement ＝ 沉浸文獻、操作分析    ｜    Detachment ＝ 暫時脫離，讓答案自己浮現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3977640" cy="3108960"/>
          </a:xfrm>
          <a:prstGeom prst="rect">
            <a:avLst/>
          </a:prstGeom>
          <a:solidFill>
            <a:srgbClr val="2E4374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463040"/>
            <a:ext cx="3977640" cy="384048"/>
          </a:xfrm>
          <a:prstGeom prst="rect">
            <a:avLst/>
          </a:prstGeom>
          <a:solidFill>
            <a:srgbClr val="1F2F54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6304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4A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Engagement  ／  投入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1965960"/>
            <a:ext cx="36576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D4A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做什麼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B9B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「組織、比較、整理、摘要、聚合或詮釋」已抽取的資訊，以提出新貢獻 (Templier &amp; Paré, 2015)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D4A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具體方法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B9B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 紮根理論編碼:open → axial → selective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(Wolfswinkel et al., 2014)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B9B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 Webster &amp; Watson (2002) 兩種表格: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B9B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以作者為中心 ／ 以概念為中心  (下一頁詳解)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09160" y="1463040"/>
            <a:ext cx="3977640" cy="3108960"/>
          </a:xfrm>
          <a:prstGeom prst="rect">
            <a:avLst/>
          </a:prstGeom>
          <a:solidFill>
            <a:srgbClr val="FFFFFF"/>
          </a:solidFill>
          <a:ln w="15875">
            <a:solidFill>
              <a:srgbClr val="2E437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463040"/>
            <a:ext cx="3977640" cy="384048"/>
          </a:xfrm>
          <a:prstGeom prst="rect">
            <a:avLst/>
          </a:prstGeom>
          <a:solidFill>
            <a:srgbClr val="ECE4D2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146304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43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Detachment  ／  抽離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892040" y="1965960"/>
            <a:ext cx="36576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A87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核心觀念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孵化（incubation）:暫時離開未解問題，讓答案不費力地浮現 (Wallas, 1926; Sio &amp; Ormerod, 2009)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A87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愛因斯坦的例子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在艱困的相對論數學推導中，「每當他走到盡頭，他會走向音樂」——莫札特成為他的孵化器 (Miller, 2006)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A87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組合式遊戲（combinatory play）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Rivard (2021) 稱為「喘息」:意識在處理別的事，潛意識持續搬弄想法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Rivard, S. (2024).  JSIS 33, 101822    ·    鍾昀臻 導讀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43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Webster &amp; Watson 的兩種分析表格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A87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· 張力深入</a:t>
            </a:r>
            <a:pPr algn="r" indent="0" marL="0">
              <a:buNone/>
            </a:pPr>
            <a:r>
              <a:rPr lang="en-US" sz="95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14 / 22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9525">
            <a:solidFill>
              <a:srgbClr val="D8CF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252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這是寫文獻回顧最實用的兩個工具——也是 Rivard 反覆推薦的方法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97764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D8CF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3977640" cy="384048"/>
          </a:xfrm>
          <a:prstGeom prst="rect">
            <a:avLst/>
          </a:prstGeom>
          <a:solidFill>
            <a:srgbClr val="ECE4D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8016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43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以作者為中心  Author-centric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1783080"/>
            <a:ext cx="3657600" cy="960120"/>
          </a:xfrm>
          <a:prstGeom prst="rect">
            <a:avLst/>
          </a:prstGeom>
          <a:solidFill>
            <a:srgbClr val="F6F1E6"/>
          </a:solidFill>
          <a:ln w="3810">
            <a:solidFill>
              <a:srgbClr val="D8CF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87452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2E4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作者 A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…  概念 X、概念 Y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2E4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作者 B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…  概念 X、概念 W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880360"/>
            <a:ext cx="3657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A87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適用時機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處於「不知道」狀態時的入門表格——簡單易做、可隨時擴充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A87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功能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作為文獻回顧的「文件基底」(document base)，修稿時可持續累積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434840" y="21488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87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709160" y="1280160"/>
            <a:ext cx="3977640" cy="3246120"/>
          </a:xfrm>
          <a:prstGeom prst="rect">
            <a:avLst/>
          </a:prstGeom>
          <a:solidFill>
            <a:srgbClr val="2E4374"/>
          </a:solidFill>
          <a:ln/>
        </p:spPr>
      </p:sp>
      <p:sp>
        <p:nvSpPr>
          <p:cNvPr id="14" name="Shape 12"/>
          <p:cNvSpPr/>
          <p:nvPr/>
        </p:nvSpPr>
        <p:spPr>
          <a:xfrm>
            <a:off x="4709160" y="1280160"/>
            <a:ext cx="3977640" cy="384048"/>
          </a:xfrm>
          <a:prstGeom prst="rect">
            <a:avLst/>
          </a:prstGeom>
          <a:solidFill>
            <a:srgbClr val="1F2F54"/>
          </a:solidFill>
          <a:ln/>
        </p:spPr>
      </p:sp>
      <p:sp>
        <p:nvSpPr>
          <p:cNvPr id="15" name="Text 13"/>
          <p:cNvSpPr/>
          <p:nvPr/>
        </p:nvSpPr>
        <p:spPr>
          <a:xfrm>
            <a:off x="4709160" y="128016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4A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以概念為中心  Concept-centric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892040" y="1783080"/>
            <a:ext cx="3657600" cy="960120"/>
          </a:xfrm>
          <a:prstGeom prst="rect">
            <a:avLst/>
          </a:prstGeom>
          <a:solidFill>
            <a:srgbClr val="1F2F54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187452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D4A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概念 X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…  [作者 A、作者 B]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D4A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概念 Y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…  [作者 A、作者 C]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2880360"/>
            <a:ext cx="3657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D4A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適用時機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B9B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建立對文獻的「理解」——較難但更有貢獻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D4A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功能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B9B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檢視「哪些概念被一起研究」、「關係是否被假設」——是發現張力、對立、缺口的關鍵工具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Rivard, S. (2024).  JSIS 33, 101822    ·    鍾昀臻 導讀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43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張力 ③  刻意 vs. 機緣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A87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· 張力深入</a:t>
            </a:r>
            <a:pPr algn="r" indent="0" marL="0">
              <a:buNone/>
            </a:pPr>
            <a:r>
              <a:rPr lang="en-US" sz="95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15 / 22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9525">
            <a:solidFill>
              <a:srgbClr val="D8CF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solidFill>
            <a:srgbClr val="1F2F5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Deliberation ＝ 有意識地應用啟發法    ｜    Serendipity ＝ 在準備好的心智中發現「意外」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3977640" cy="3108960"/>
          </a:xfrm>
          <a:prstGeom prst="rect">
            <a:avLst/>
          </a:prstGeom>
          <a:solidFill>
            <a:srgbClr val="2E4374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463040"/>
            <a:ext cx="3977640" cy="384048"/>
          </a:xfrm>
          <a:prstGeom prst="rect">
            <a:avLst/>
          </a:prstGeom>
          <a:solidFill>
            <a:srgbClr val="1F2F54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6304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4A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Deliberation  ／  刻意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1965960"/>
            <a:ext cx="36576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D4A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重點區別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B9B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比「投入」抽象一層——分析的不是文獻本身，而是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你已從文獻中得到的「理解」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D4A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可用的啟發法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B9B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（節錄自 Jaccard &amp; Jacoby, 2020 的 27 個工具）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B9B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 反假設:對既有研究的預設提出對立假設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B9B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 問題化（problematization） (Alvesson &amp; Sandberg, 2011)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B9B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 思想實驗、反事實推理、極端推演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B9B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 比較不同文獻體系背後的假設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09160" y="1463040"/>
            <a:ext cx="3977640" cy="3108960"/>
          </a:xfrm>
          <a:prstGeom prst="rect">
            <a:avLst/>
          </a:prstGeom>
          <a:solidFill>
            <a:srgbClr val="FFFFFF"/>
          </a:solidFill>
          <a:ln w="15875">
            <a:solidFill>
              <a:srgbClr val="2E437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463040"/>
            <a:ext cx="3977640" cy="384048"/>
          </a:xfrm>
          <a:prstGeom prst="rect">
            <a:avLst/>
          </a:prstGeom>
          <a:solidFill>
            <a:srgbClr val="ECE4D2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146304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43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Serendipity  ／  機緣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892040" y="1965960"/>
            <a:ext cx="36576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A87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詞源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Horace Walpole (1754) 創造:「依憑意外與敏銳判斷，發現原非追尋之物」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A87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關鍵:不是純然的「運氣」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Sagacity（敏銳的判斷力）才是核心——多少人看過蘋果掉落，但只有牛頓提出萬有引力？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A87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在文獻回顧中的形式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 在文獻中發現「不符合預期」的論文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 觀察到不同研究結果之間「耐人尋味的矛盾」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 偶然從同事的閒聊中得到啟發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Rivard, S. (2024).  JSIS 33, 101822    ·    鍾昀臻 導讀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43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機緣的真實案例:Kappos &amp; Rivard (2008)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A87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· 張力深入</a:t>
            </a:r>
            <a:pPr algn="r" indent="0" marL="0">
              <a:buNone/>
            </a:pPr>
            <a:r>
              <a:rPr lang="en-US" sz="95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16 / 22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9525">
            <a:solidFill>
              <a:srgbClr val="D8CF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252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作者自己的故事——一個被多數研究者會忽略的「異常值」，反而成為理論突破的起點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353312"/>
            <a:ext cx="457200" cy="457200"/>
          </a:xfrm>
          <a:prstGeom prst="ellipse">
            <a:avLst/>
          </a:prstGeom>
          <a:solidFill>
            <a:srgbClr val="2E437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53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1810512"/>
            <a:ext cx="0" cy="128016"/>
          </a:xfrm>
          <a:prstGeom prst="line">
            <a:avLst/>
          </a:prstGeom>
          <a:noFill/>
          <a:ln w="19050">
            <a:solidFill>
              <a:srgbClr val="D8CF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3533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43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377440" y="1353312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Kappos &amp; Rivard 在做「文化與資訊系統」的文獻回顧，蒐集到 56 篇核心文章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1993392"/>
            <a:ext cx="457200" cy="457200"/>
          </a:xfrm>
          <a:prstGeom prst="ellipse">
            <a:avLst/>
          </a:prstGeom>
          <a:solidFill>
            <a:srgbClr val="2E4374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77240" y="2450592"/>
            <a:ext cx="0" cy="128016"/>
          </a:xfrm>
          <a:prstGeom prst="line">
            <a:avLst/>
          </a:prstGeom>
          <a:noFill/>
          <a:ln w="19050">
            <a:solidFill>
              <a:srgbClr val="D8CF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19933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43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規律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77440" y="1993392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其中 55 篇都從「整合觀點」(integration) 或「差異觀點」(differentiation) 概念化文化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633472"/>
            <a:ext cx="457200" cy="457200"/>
          </a:xfrm>
          <a:prstGeom prst="ellipse">
            <a:avLst/>
          </a:prstGeom>
          <a:solidFill>
            <a:srgbClr val="2E4374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77240" y="3090672"/>
            <a:ext cx="0" cy="128016"/>
          </a:xfrm>
          <a:prstGeom prst="line">
            <a:avLst/>
          </a:prstGeom>
          <a:noFill/>
          <a:ln w="19050">
            <a:solidFill>
              <a:srgbClr val="D8CF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26334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43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異常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377440" y="2633472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Dubé &amp; Robey (1999) 是唯一例外——採用 Martin (1992) 的三觀點理論（整合 + 差異 + 分裂）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273552"/>
            <a:ext cx="457200" cy="457200"/>
          </a:xfrm>
          <a:prstGeom prst="ellipse">
            <a:avLst/>
          </a:prstGeom>
          <a:solidFill>
            <a:srgbClr val="A87C2C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77240" y="3730752"/>
            <a:ext cx="0" cy="128016"/>
          </a:xfrm>
          <a:prstGeom prst="line">
            <a:avLst/>
          </a:prstGeom>
          <a:noFill/>
          <a:ln w="19050">
            <a:solidFill>
              <a:srgbClr val="D8CF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43000" y="32735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7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377440" y="3273552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如果忽略這個「異常值」，就只是依規律分類完事；但作者選擇抓住它，深入 Martin 的理論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3913632"/>
            <a:ext cx="457200" cy="457200"/>
          </a:xfrm>
          <a:prstGeom prst="ellipse">
            <a:avLst/>
          </a:prstGeom>
          <a:solidFill>
            <a:srgbClr val="2E4374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43000" y="39136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43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377440" y="3913632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重新進入「知道-不知道、投入-抽離、刻意-機緣」的迴圈，最終建構出更豐富的三層次模型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434840"/>
            <a:ext cx="8229600" cy="292608"/>
          </a:xfrm>
          <a:prstGeom prst="rect">
            <a:avLst/>
          </a:prstGeom>
          <a:solidFill>
            <a:srgbClr val="2E4374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4348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啟示    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「異常值不是雜訊——它可能是還沒被理解的訊號」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Rivard, S. (2024).  JSIS 33, 101822    ·    鍾昀臻 導讀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43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張力 ④  自我表達 vs. 社會連結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A87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· 張力深入</a:t>
            </a:r>
            <a:pPr algn="r" indent="0" marL="0">
              <a:buNone/>
            </a:pPr>
            <a:r>
              <a:rPr lang="en-US" sz="95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17 / 22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9525">
            <a:solidFill>
              <a:srgbClr val="D8CF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solidFill>
            <a:srgbClr val="1F2F5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Self-expression ＝ 主觀的創造力    ｜    Social Connection ＝ 同儕回饋的鑲嵌力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3977640" cy="3108960"/>
          </a:xfrm>
          <a:prstGeom prst="rect">
            <a:avLst/>
          </a:prstGeom>
          <a:solidFill>
            <a:srgbClr val="2E4374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463040"/>
            <a:ext cx="3977640" cy="384048"/>
          </a:xfrm>
          <a:prstGeom prst="rect">
            <a:avLst/>
          </a:prstGeom>
          <a:solidFill>
            <a:srgbClr val="1F2F54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6304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4A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Self-expression  ／  自我表達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1965960"/>
            <a:ext cx="36576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D4A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立場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B9B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理解、解釋型的回顧需要作者擁抱主觀性、展現創造力，超越單純的分類與整理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D4A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案例:Markus &amp; Mao (2004)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B9B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對「參與」這個 IS 領域的核心概念，直接下了一個強烈評斷——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b="1" i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「對今天的 IS 情境而言，這是一個過時、疲累的概念」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B9B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但他們不是空話——而是用文獻分析支持，並提出全新的概念架構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09160" y="1463040"/>
            <a:ext cx="3977640" cy="3108960"/>
          </a:xfrm>
          <a:prstGeom prst="rect">
            <a:avLst/>
          </a:prstGeom>
          <a:solidFill>
            <a:srgbClr val="FFFFFF"/>
          </a:solidFill>
          <a:ln w="15875">
            <a:solidFill>
              <a:srgbClr val="2E437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463040"/>
            <a:ext cx="3977640" cy="384048"/>
          </a:xfrm>
          <a:prstGeom prst="rect">
            <a:avLst/>
          </a:prstGeom>
          <a:solidFill>
            <a:srgbClr val="ECE4D2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146304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43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Social Connection  ／  社會連結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892040" y="1965960"/>
            <a:ext cx="36576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A87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為什麼需要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新見解「除非與他人共鳴，否則不太可能擴散或發展」(Klag &amp; Langley)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A87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形式（從非正式到正式）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 與同儕喝咖啡聊天、與指導教授討論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 請朋友讀草稿、研討會發表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 正式 workshop 接受同儕審查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A87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雙面性提醒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新手研究者容易被一句評論帶偏方向——social connection 也可能成為「束縛」而非「啟發」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Rivard, S. (2024).  JSIS 33, 101822    ·    鍾昀臻 導讀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E43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87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4114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0" b="1" spc="-800" kern="0" dirty="0">
                <a:solidFill>
                  <a:srgbClr val="D4A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0" dirty="0"/>
          </a:p>
        </p:txBody>
      </p:sp>
      <p:sp>
        <p:nvSpPr>
          <p:cNvPr id="4" name="Shape 2"/>
          <p:cNvSpPr/>
          <p:nvPr/>
        </p:nvSpPr>
        <p:spPr>
          <a:xfrm>
            <a:off x="4434840" y="1554480"/>
            <a:ext cx="0" cy="2103120"/>
          </a:xfrm>
          <a:prstGeom prst="line">
            <a:avLst/>
          </a:prstGeom>
          <a:noFill/>
          <a:ln w="19050">
            <a:solidFill>
              <a:srgbClr val="A87C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0" y="1554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D4A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754880" y="18745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如何實踐這個過程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754880" y="2606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4A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Enacting the conceptual leaping process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31089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B9B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作者給研究者的三點實作建議，以及寫作在整個過程中扮演的角色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95528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43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作者給研究者的三點建議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A87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 · 實踐</a:t>
            </a:r>
            <a:pPr algn="r" indent="0" marL="0">
              <a:buNone/>
            </a:pPr>
            <a:r>
              <a:rPr lang="en-US" sz="95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19 / 22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9525">
            <a:solidFill>
              <a:srgbClr val="D8CF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252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作者強調:「這不是 prescription（處方）」，而是可拿來「嘗試、修補、玩耍、測試」的工具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8CF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960120" cy="1051560"/>
          </a:xfrm>
          <a:prstGeom prst="rect">
            <a:avLst/>
          </a:prstGeom>
          <a:solidFill>
            <a:srgbClr val="2E437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80160"/>
            <a:ext cx="960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4A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1600200" y="138988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43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覺察當下狀態，主動「翻轉」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600200" y="1682496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mindfulness（正念覺察）辨識自己目前處於哪一極，過一陣子就刻意切換到對立面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600200" y="1956816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i="1" dirty="0">
                <a:solidFill>
                  <a:srgbClr val="A87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範例:投入了好幾小時的文獻分析後，主動去散步或做家事——研究顯示「低認知負荷的活動」比休息更有助於孵化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82296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8CFC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423160"/>
            <a:ext cx="960120" cy="1051560"/>
          </a:xfrm>
          <a:prstGeom prst="rect">
            <a:avLst/>
          </a:prstGeom>
          <a:solidFill>
            <a:srgbClr val="2E4374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423160"/>
            <a:ext cx="960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4A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1600200" y="253288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43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不要害怕進入新張力會推翻已有成果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600200" y="2825496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我們常抗拒進入下一組張力，因為新觀點可能會挑戰已完成的工作。但要克服這種抗拒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600200" y="3099816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i="1" dirty="0">
                <a:solidFill>
                  <a:srgbClr val="A87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誠實提醒:被啟發法檢驗、把異常值當回事、聽進同事的建議——都可能讓你必須重做。但這是必要代價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566160"/>
            <a:ext cx="82296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8CFC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566160"/>
            <a:ext cx="960120" cy="1051560"/>
          </a:xfrm>
          <a:prstGeom prst="rect">
            <a:avLst/>
          </a:prstGeom>
          <a:solidFill>
            <a:srgbClr val="2E4374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566160"/>
            <a:ext cx="960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4A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1600200" y="367588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43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在交替中留意「差異」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600200" y="3968496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翻轉前後的觀察有什麼不同？哪些矛盾與新想法浮現？這個「對照」本身才是綜合的起點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600200" y="4242816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i="1" dirty="0">
                <a:solidFill>
                  <a:srgbClr val="A87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問自己:抽離後浮現的新想法，跟投入時的觀察相比有何差異？施加啟發法後，發現了什麼新「blip」？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Rivard, S. (2024).  JSIS 33, 101822    ·    鍾昀臻 導讀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E43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87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4114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0" b="1" spc="-800" kern="0" dirty="0">
                <a:solidFill>
                  <a:srgbClr val="D4A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8000" dirty="0"/>
          </a:p>
        </p:txBody>
      </p:sp>
      <p:sp>
        <p:nvSpPr>
          <p:cNvPr id="4" name="Shape 2"/>
          <p:cNvSpPr/>
          <p:nvPr/>
        </p:nvSpPr>
        <p:spPr>
          <a:xfrm>
            <a:off x="4434840" y="1554480"/>
            <a:ext cx="0" cy="2103120"/>
          </a:xfrm>
          <a:prstGeom prst="line">
            <a:avLst/>
          </a:prstGeom>
          <a:noFill/>
          <a:ln w="19050">
            <a:solidFill>
              <a:srgbClr val="A87C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0" y="1554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D4A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754880" y="18745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結論與導讀者觀點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754880" y="2606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4A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reviewer's reflection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31089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B9B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辯證綜合的三種結果，以及對自己第二章寫作經驗的對照與批判性反思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95528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43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寫作的角色 + 辯證綜合的三種結果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A87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 · 結論</a:t>
            </a:r>
            <a:pPr algn="r" indent="0" marL="0">
              <a:buNone/>
            </a:pPr>
            <a:r>
              <a:rPr lang="en-US" sz="95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21 / 22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9525">
            <a:solidFill>
              <a:srgbClr val="D8CF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solidFill>
            <a:srgbClr val="FFFFFF"/>
          </a:solidFill>
          <a:ln w="15875">
            <a:solidFill>
              <a:srgbClr val="A87C2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515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43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寫作 ── 概念躍進的「催化劑」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88720" y="1371600"/>
            <a:ext cx="7360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「正是在寫作的過程中，富有產出的概念想法才得以發展與結晶。」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但更重要的是 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A87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「重寫」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── 「好的文獻回顧需要被寫好幾次，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以形成更好的理解、並更清楚地傳達給讀者」(Boell &amp; Cecez-Kecmanovic, 2014)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57200" y="2331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43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兩極張力交鋒後，可能的三種結果（Van de Ven &amp; Poole, 1995）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2788920"/>
            <a:ext cx="26517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CFC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2788920"/>
            <a:ext cx="2651760" cy="45720"/>
          </a:xfrm>
          <a:prstGeom prst="rect">
            <a:avLst/>
          </a:prstGeom>
          <a:solidFill>
            <a:srgbClr val="2E4374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2880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87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594360" y="3383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43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綜合 / Synthesis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94360" y="373075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產生一個與原本兩極都不同的「新實體」── 新概念、新理解、新模型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94360" y="43434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87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理想結果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246120" y="2788920"/>
            <a:ext cx="26517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CFC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246120" y="2788920"/>
            <a:ext cx="2651760" cy="45720"/>
          </a:xfrm>
          <a:prstGeom prst="rect">
            <a:avLst/>
          </a:prstGeom>
          <a:solidFill>
            <a:srgbClr val="2E4374"/>
          </a:solidFill>
          <a:ln/>
        </p:spPr>
      </p:sp>
      <p:sp>
        <p:nvSpPr>
          <p:cNvPr id="18" name="Text 15"/>
          <p:cNvSpPr/>
          <p:nvPr/>
        </p:nvSpPr>
        <p:spPr>
          <a:xfrm>
            <a:off x="3246120" y="2880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87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3383280" y="3383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43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壓制 / Defeat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383280" y="373075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一極壓倒另一極 ── 綜合失敗，作者倒回到其中一個原本的立場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383280" y="43434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87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常見的失誤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035040" y="2788920"/>
            <a:ext cx="26517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CFC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035040" y="2788920"/>
            <a:ext cx="2651760" cy="45720"/>
          </a:xfrm>
          <a:prstGeom prst="rect">
            <a:avLst/>
          </a:prstGeom>
          <a:solidFill>
            <a:srgbClr val="2E4374"/>
          </a:solidFill>
          <a:ln/>
        </p:spPr>
      </p:sp>
      <p:sp>
        <p:nvSpPr>
          <p:cNvPr id="24" name="Text 21"/>
          <p:cNvSpPr/>
          <p:nvPr/>
        </p:nvSpPr>
        <p:spPr>
          <a:xfrm>
            <a:off x="6035040" y="2880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87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800" dirty="0"/>
          </a:p>
        </p:txBody>
      </p:sp>
      <p:sp>
        <p:nvSpPr>
          <p:cNvPr id="25" name="Text 22"/>
          <p:cNvSpPr/>
          <p:nvPr/>
        </p:nvSpPr>
        <p:spPr>
          <a:xfrm>
            <a:off x="6172200" y="3383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43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僵局 / Stalemate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172200" y="373075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兩極無法整合 ── 「硬思考」走到死胡同，需要 resilience，可能要從頭再來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172200" y="43434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87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考驗韌性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Rivard, S. (2024).  JSIS 33, 101822    ·    鍾昀臻 導讀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43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導讀者觀點 + 結尾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A87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 · 結論</a:t>
            </a:r>
            <a:pPr algn="r" indent="0" marL="0">
              <a:buNone/>
            </a:pPr>
            <a:r>
              <a:rPr lang="en-US" sz="95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22 / 22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9525">
            <a:solidFill>
              <a:srgbClr val="D8CF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82296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CF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54864" cy="1417320"/>
          </a:xfrm>
          <a:prstGeom prst="rect">
            <a:avLst/>
          </a:prstGeom>
          <a:solidFill>
            <a:srgbClr val="A87C2C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9875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43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個人共鳴:被 Hard work vs. Hard thinking 點到的瞬間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我目前正在寫論文第二章「蔬菜價格預測」的文獻回顧。最初花了大量時間整理 ARIMA、XGBoost、Prophet 等模型的</a:t>
            </a:r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2E43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技術細節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──但被指出這是</a:t>
            </a:r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A87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「方法說明書」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，不是「文獻回顧」。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對照 Rivard 的話:我把 hard work 當成 hard thinking——但其實「這些研究有什麼缺口？我的研究問題從何而生？」才是該回答的問題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822960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D8CF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423160"/>
            <a:ext cx="54864" cy="1627632"/>
          </a:xfrm>
          <a:prstGeom prst="rect">
            <a:avLst/>
          </a:prstGeom>
          <a:solidFill>
            <a:srgbClr val="2E4374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49631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43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批判性反思:這個框架還有兩個盲點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85800" y="2834640"/>
            <a:ext cx="78638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A87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</a:t>
            </a:r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2E43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倖存者偏差? 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作者引用的都是「事後成功的案例」（Kappos &amp; Rivard、Markus &amp; Mao），看不到「努力切換心智狀態但失敗」的研究者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A87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</a:t>
            </a:r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2E43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時代還適用? 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 LLM 能代勞 Engagement 與 Deliberation，人類不可替代的是不是只剩 Serendipity 與 Self-expression？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solidFill>
            <a:srgbClr val="2E4374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251960"/>
            <a:ext cx="320040" cy="32004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51560" y="4160520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review means to view, inspect, or examine a second time, or again. </a:t>
            </a:r>
            <a:pPr indent="0" marL="0">
              <a:lnSpc>
                <a:spcPct val="125000"/>
              </a:lnSpc>
              <a:buNone/>
            </a:pPr>
            <a:r>
              <a:rPr lang="en-US" sz="1150" b="1" i="1" dirty="0">
                <a:solidFill>
                  <a:srgbClr val="D4A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many times.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B9B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「回顧」的意思是再看一次⋯⋯有時候是很多次。</a:t>
            </a:r>
            <a:pPr indent="0" marL="0">
              <a:lnSpc>
                <a:spcPct val="125000"/>
              </a:lnSpc>
              <a:buNone/>
            </a:pPr>
            <a:r>
              <a:rPr lang="en-US" sz="850" i="1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─ Michailova (2023), cited in Rivard (2024)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Rivard, S. (2024).  JSIS 33, 101822    ·    鍾昀臻 導讀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Unpacking the process of conceptual leaping (Rivard, 2024)</dc:title>
  <dc:subject>PptxGenJS Presentation</dc:subject>
  <dc:creator>鍾昀臻</dc:creator>
  <cp:lastModifiedBy>鍾昀臻</cp:lastModifiedBy>
  <cp:revision>1</cp:revision>
  <dcterms:created xsi:type="dcterms:W3CDTF">2026-05-17T13:16:58Z</dcterms:created>
  <dcterms:modified xsi:type="dcterms:W3CDTF">2026-05-17T13:16:58Z</dcterms:modified>
</cp:coreProperties>
</file>