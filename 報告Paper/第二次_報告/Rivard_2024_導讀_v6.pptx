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5"/>
    <p:sldId id="259" r:id="rId4"/>
    <p:sldId id="278" r:id="rId29"/>
    <p:sldId id="260" r:id="rId6"/>
    <p:sldId id="261" r:id="rId7"/>
    <p:sldId id="262" r:id="rId8"/>
    <p:sldId id="263" r:id="rId9"/>
    <p:sldId id="264" r:id="rId10"/>
    <p:sldId id="265" r:id="rId11"/>
    <p:sldId id="279" r:id="rId30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0" r:id="rId31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4E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8C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STRATEGIC INFORMATION SYSTEMS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31520" cy="0"/>
          </a:xfrm>
          <a:prstGeom prst="line">
            <a:avLst/>
          </a:prstGeom>
          <a:noFill/>
          <a:ln w="19050">
            <a:solidFill>
              <a:srgbClr val="2A8C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Unpacking the Process of</a:t>
            </a:r>
            <a:endParaRPr lang="en-US" sz="3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Leaping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Conduct of Literature Reviews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拆解文獻回顧中「概念躍進」的歷程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7863840" cy="0"/>
          </a:xfrm>
          <a:prstGeom prst="line">
            <a:avLst/>
          </a:prstGeom>
          <a:noFill/>
          <a:ln w="9525">
            <a:solidFill>
              <a:srgbClr val="4F93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297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Author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Suzanne Rivard</a:t>
            </a:r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·   HEC Montréal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導讀者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鍾昀臻</a:t>
            </a:r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   ·   國立中正大學 會計與資訊科技研究所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D4E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8C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spc="-800" kern="0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0" dirty="0"/>
          </a:p>
        </p:txBody>
      </p:sp>
      <p:sp>
        <p:nvSpPr>
          <p:cNvPr id="4" name="Shape 2"/>
          <p:cNvSpPr/>
          <p:nvPr/>
        </p:nvSpPr>
        <p:spPr>
          <a:xfrm>
            <a:off x="4434840" y="1554480"/>
            <a:ext cx="0" cy="2103120"/>
          </a:xfrm>
          <a:prstGeom prst="line">
            <a:avLst/>
          </a:prstGeom>
          <a:noFill/>
          <a:ln w="19050">
            <a:solidFill>
              <a:srgbClr val="2A8C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0" y="1874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報告大綱與論文摘要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75488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agenda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3108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這篇論文在講什麼？接下來的 20 分鐘會帶大家走過哪些段落？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論文摘要:這篇在講什麼？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· 摘要與大綱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4 / 25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6D8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solidFill>
            <a:srgbClr val="1D4E5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6128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960120"/>
            <a:ext cx="7360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作者主張:把文獻當作質性資料，藉「概念躍進」歷程提升文獻回顧的理論貢獻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920240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6D8D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920240"/>
            <a:ext cx="1280160" cy="868680"/>
          </a:xfrm>
          <a:prstGeom prst="rect">
            <a:avLst/>
          </a:prstGeom>
          <a:solidFill>
            <a:srgbClr val="DCEAE7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920240"/>
            <a:ext cx="54864" cy="868680"/>
          </a:xfrm>
          <a:prstGeom prst="rect">
            <a:avLst/>
          </a:prstGeom>
          <a:solidFill>
            <a:srgbClr val="2A8C82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9202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920240" y="196596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在文獻搜尋技術（資料庫、全文檢索、AI 工具）普及後，純描述性文獻回顧已難以登上頂級 IS 期刊。許多作者把「努力閱讀」誤認為「深度思考」，停留在分類整理而無法產生理論貢獻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6D8D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880360"/>
            <a:ext cx="1280160" cy="868680"/>
          </a:xfrm>
          <a:prstGeom prst="rect">
            <a:avLst/>
          </a:prstGeom>
          <a:solidFill>
            <a:srgbClr val="DCEAE7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2880360"/>
            <a:ext cx="54864" cy="868680"/>
          </a:xfrm>
          <a:prstGeom prst="rect">
            <a:avLst/>
          </a:prstGeom>
          <a:solidFill>
            <a:srgbClr val="2A8C82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28803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立場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920240" y="292608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把文獻視為質性資料，那麼質性研究中促進概念躍進（conceptual leap）的方法，理應也能幫助文獻回顧的作者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6D8D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3840480"/>
            <a:ext cx="1280160" cy="868680"/>
          </a:xfrm>
          <a:prstGeom prst="rect">
            <a:avLst/>
          </a:prstGeom>
          <a:solidFill>
            <a:srgbClr val="DCEAE7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3840480"/>
            <a:ext cx="54864" cy="868680"/>
          </a:xfrm>
          <a:prstGeom prst="rect">
            <a:avLst/>
          </a:prstGeom>
          <a:solidFill>
            <a:srgbClr val="2A8C82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38404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920240" y="388620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借用 Klag &amp; Langley (2013) 提出的四組辯證張力——作者必須在每組對立的心智狀態之間有意識地交替、迭代，才能讓新觀念浮現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報告大綱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· 摘要與大綱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3 / 25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6D8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457200"/>
          </a:xfrm>
          <a:prstGeom prst="rect">
            <a:avLst/>
          </a:prstGeom>
          <a:solidFill>
            <a:srgbClr val="2A8C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417320" y="1051560"/>
            <a:ext cx="0" cy="320040"/>
          </a:xfrm>
          <a:prstGeom prst="line">
            <a:avLst/>
          </a:prstGeom>
          <a:noFill/>
          <a:ln w="12700">
            <a:solidFill>
              <a:srgbClr val="C6D8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960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報告大綱與論文摘要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2070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這篇在講什麼？本文的文體與定位（即此段）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8229600" cy="0"/>
          </a:xfrm>
          <a:prstGeom prst="line">
            <a:avLst/>
          </a:prstGeom>
          <a:noFill/>
          <a:ln w="6350">
            <a:solidFill>
              <a:srgbClr val="C6D8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544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9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417320" y="1645920"/>
            <a:ext cx="0" cy="320040"/>
          </a:xfrm>
          <a:prstGeom prst="line">
            <a:avLst/>
          </a:prstGeom>
          <a:noFill/>
          <a:ln w="12700">
            <a:solidFill>
              <a:srgbClr val="C6D8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問題的提出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1801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頂級期刊不再接受純描述性文獻回顧；hard work vs. hard thinking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8229600" cy="0"/>
          </a:xfrm>
          <a:prstGeom prst="line">
            <a:avLst/>
          </a:prstGeom>
          <a:noFill/>
          <a:ln w="6350">
            <a:solidFill>
              <a:srgbClr val="C6D8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148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9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417320" y="2240280"/>
            <a:ext cx="0" cy="320040"/>
          </a:xfrm>
          <a:prstGeom prst="line">
            <a:avLst/>
          </a:prstGeom>
          <a:noFill/>
          <a:ln w="12700">
            <a:solidFill>
              <a:srgbClr val="C6D8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概念躍進與辯證張力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2395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 conceptual leap？四組辯證張力；K&amp;L 借用 vs. Rivard 原創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8229600" cy="0"/>
          </a:xfrm>
          <a:prstGeom prst="line">
            <a:avLst/>
          </a:prstGeom>
          <a:noFill/>
          <a:ln w="6350">
            <a:solidFill>
              <a:srgbClr val="C6D8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432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9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417320" y="2834640"/>
            <a:ext cx="0" cy="320040"/>
          </a:xfrm>
          <a:prstGeom prst="line">
            <a:avLst/>
          </a:prstGeom>
          <a:noFill/>
          <a:ln w="12700">
            <a:solidFill>
              <a:srgbClr val="C6D8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020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四組張力深入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00200" y="2990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知道-不知道、投入-抽離、刻意-機緣、自我表達-社會連結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8229600" cy="0"/>
          </a:xfrm>
          <a:prstGeom prst="line">
            <a:avLst/>
          </a:prstGeom>
          <a:noFill/>
          <a:ln w="6350">
            <a:solidFill>
              <a:srgbClr val="C6D8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3375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9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417320" y="3429000"/>
            <a:ext cx="0" cy="320040"/>
          </a:xfrm>
          <a:prstGeom prst="line">
            <a:avLst/>
          </a:prstGeom>
          <a:noFill/>
          <a:ln w="12700">
            <a:solidFill>
              <a:srgbClr val="C6D8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0200" y="3337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如何實踐這個過程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0200" y="35844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三點建議 + 寫作的角色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886200"/>
            <a:ext cx="8229600" cy="0"/>
          </a:xfrm>
          <a:prstGeom prst="line">
            <a:avLst/>
          </a:prstGeom>
          <a:noFill/>
          <a:ln w="6350">
            <a:solidFill>
              <a:srgbClr val="C6D8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931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9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1417320" y="4023360"/>
            <a:ext cx="0" cy="320040"/>
          </a:xfrm>
          <a:prstGeom prst="line">
            <a:avLst/>
          </a:prstGeom>
          <a:noFill/>
          <a:ln w="12700">
            <a:solidFill>
              <a:srgbClr val="C6D8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00200" y="3931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結論與導讀者觀點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600200" y="41788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辯證綜合的三種結果 + 個人反思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4E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8C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spc="-800" kern="0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0" dirty="0"/>
          </a:p>
        </p:txBody>
      </p:sp>
      <p:sp>
        <p:nvSpPr>
          <p:cNvPr id="4" name="Shape 2"/>
          <p:cNvSpPr/>
          <p:nvPr/>
        </p:nvSpPr>
        <p:spPr>
          <a:xfrm>
            <a:off x="4434840" y="1554480"/>
            <a:ext cx="0" cy="2103120"/>
          </a:xfrm>
          <a:prstGeom prst="line">
            <a:avLst/>
          </a:prstGeom>
          <a:noFill/>
          <a:ln w="19050">
            <a:solidFill>
              <a:srgbClr val="2A8C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0" y="1874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問題的提出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75488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conceptual leaping matter?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3108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為什麼頂級期刊不再接受純描述性文獻回顧？「努力閱讀」與「深度思考」的差別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頂級期刊現在要的是什麼？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· 問題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7 / 25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6D8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3977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6D8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365760"/>
          </a:xfrm>
          <a:prstGeom prst="rect">
            <a:avLst/>
          </a:prstGeom>
          <a:solidFill>
            <a:srgbClr val="DCEAE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  期刊不再接受的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純描述性文獻回顧（descriptive review）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  ·  只是把找到的文獻分類、整理、摘要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  ·  認真記錄搜尋詞、納入排除標準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  ·  製作完整的概念與作者對照表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91640"/>
          </a:xfrm>
          <a:prstGeom prst="rect">
            <a:avLst/>
          </a:prstGeom>
          <a:solidFill>
            <a:srgbClr val="1D4E53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9601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 期刊現在期待的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92040" y="141732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理解、解釋、建構模型的回顧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  ·  提出創新的研究方向與重要問題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  ·  發展新的概念與概念之間的連結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  ·  提出可供未來研究使用的框架或模型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A8C82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97180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3000" y="2926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一位審稿人對某篇被拒文獻回顧的真心話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" y="33375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「作者把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D4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work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（努力閱讀）誤認為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D4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thinking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（深度思考）。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這份稿子讀了很多、整理了很多，但理論論文需要充分發展的新觀點——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這些觀點可能由閱讀觸發，但更可能源於在放鬆的環境下喝一杯咖啡的時刻。」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4E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8C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spc="-800" kern="0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0" dirty="0"/>
          </a:p>
        </p:txBody>
      </p:sp>
      <p:sp>
        <p:nvSpPr>
          <p:cNvPr id="4" name="Shape 2"/>
          <p:cNvSpPr/>
          <p:nvPr/>
        </p:nvSpPr>
        <p:spPr>
          <a:xfrm>
            <a:off x="4434840" y="1554480"/>
            <a:ext cx="0" cy="2103120"/>
          </a:xfrm>
          <a:prstGeom prst="line">
            <a:avLst/>
          </a:prstGeom>
          <a:noFill/>
          <a:ln w="19050">
            <a:solidFill>
              <a:srgbClr val="2A8C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0" y="1874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概念躍進與辯證張力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75488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leap &amp; the four dialectic tensions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3108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把文獻當質性資料 ／ 什麼是概念躍進？ ／ 四組辯證張力的核心框架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本文的核心立場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· 框架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9 / 25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6D8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960120"/>
          </a:xfrm>
          <a:prstGeom prst="rect">
            <a:avLst/>
          </a:prstGeom>
          <a:solidFill>
            <a:srgbClr val="1D4E5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0515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把文獻當作質性資料來分析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17320" y="148132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as qualitative data  ─  review process = qualitative data analysis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這個立場的意義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6D8D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2A8C82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560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 ＝ 資料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43200" y="25603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「論文、書籍、會議、工作論文構成的浩瀚資料——也就是學術社群的集體知識」(Shepherd &amp; Sutcliffe, 2011)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227832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6D8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3227832"/>
            <a:ext cx="54864" cy="640080"/>
          </a:xfrm>
          <a:prstGeom prst="rect">
            <a:avLst/>
          </a:prstGeom>
          <a:solidFill>
            <a:srgbClr val="2A8C82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2735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 ＝ 分析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743200" y="327355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若文獻是「資料」，回顧文獻就等同分析質性資料——可借用開放／主軸／選擇性編碼、詮釋循環等方法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941064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6D8D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3941064"/>
            <a:ext cx="54864" cy="640080"/>
          </a:xfrm>
          <a:prstGeom prst="rect">
            <a:avLst/>
          </a:prstGeom>
          <a:solidFill>
            <a:srgbClr val="2A8C82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39867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理論基礎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743200" y="3986784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呼應 Wolfswinkel et al. (2013) 紮根理論式文獻回顧 ／ Boell &amp; Cecez-Kecmanovic (2014) 詮釋學文獻回顧框架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什麼是「概念躍進」？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· 框架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10 / 25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6D8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A8C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Leap  ／  概念躍進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A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</a:t>
            </a:r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D4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intellectual jump that generates abstract theoretical ideas from empirical data.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A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從資料躍向抽象理論的智識跳躍；Rivard 把「實證資料」改讀為「文獻本身」</a:t>
            </a:r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— Klag &amp; Langley (2013, p. 149)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關鍵概念:是「過程」而非「神奇瞬間」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39776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6D8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8892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  常見誤解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概念躍進 ＝ 單一神奇時刻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2651760"/>
            <a:ext cx="3977640" cy="1874520"/>
          </a:xfrm>
          <a:prstGeom prst="rect">
            <a:avLst/>
          </a:prstGeom>
          <a:solidFill>
            <a:srgbClr val="1D4E53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9160" y="2651760"/>
            <a:ext cx="54864" cy="1874520"/>
          </a:xfrm>
          <a:prstGeom prst="rect">
            <a:avLst/>
          </a:prstGeom>
          <a:solidFill>
            <a:srgbClr val="2A8C82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278892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 Klag &amp; Langley 主張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概念躍進 ＝ 多次小躍進累積的「歷程」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  <p:sp>
        <p:nvSpPr>
          <p:cNvPr id="15" name="Bolt"/>
          <p:cNvSpPr/>
          <p:nvPr/>
        </p:nvSpPr>
        <p:spPr>
          <a:xfrm>
            <a:off x="2226020" y="3560000"/>
            <a:ext cx="440000" cy="620000"/>
          </a:xfrm>
          <a:prstGeom prst="lightningBolt">
            <a:avLst/>
          </a:prstGeom>
          <a:solidFill>
            <a:srgbClr val="2A8C82"/>
          </a:solidFill>
          <a:ln/>
        </p:spPr>
      </p:sp>
      <p:sp>
        <p:nvSpPr>
          <p:cNvPr id="16" name="LeftCap"/>
          <p:cNvSpPr/>
          <p:nvPr/>
        </p:nvSpPr>
        <p:spPr>
          <a:xfrm>
            <a:off x="640080" y="4250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單一爆發 → 不可靠的期待</a:t>
            </a:r>
          </a:p>
        </p:txBody>
      </p:sp>
      <p:sp>
        <p:nvSpPr>
          <p:cNvPr id="17" name="PathLine"/>
          <p:cNvSpPr/>
          <p:nvPr/>
        </p:nvSpPr>
        <p:spPr>
          <a:xfrm flipV="1">
            <a:off x="5150000" y="3640000"/>
            <a:ext cx="2450000" cy="460000"/>
          </a:xfrm>
          <a:prstGeom prst="line">
            <a:avLst/>
          </a:prstGeom>
          <a:noFill/>
          <a:ln w="19050">
            <a:solidFill>
              <a:srgbClr val="6FC0B4"/>
            </a:solidFill>
            <a:prstDash val="dash"/>
          </a:ln>
        </p:spPr>
      </p:sp>
      <p:sp>
        <p:nvSpPr>
          <p:cNvPr id="18" name="Dot1"/>
          <p:cNvSpPr/>
          <p:nvPr/>
        </p:nvSpPr>
        <p:spPr>
          <a:xfrm>
            <a:off x="5075000" y="4025000"/>
            <a:ext cx="150000" cy="150000"/>
          </a:xfrm>
          <a:prstGeom prst="ellipse">
            <a:avLst/>
          </a:prstGeom>
          <a:solidFill>
            <a:srgbClr val="6FC0B4"/>
          </a:solidFill>
          <a:ln/>
        </p:spPr>
      </p:sp>
      <p:sp>
        <p:nvSpPr>
          <p:cNvPr id="19" name="Dot2"/>
          <p:cNvSpPr/>
          <p:nvPr/>
        </p:nvSpPr>
        <p:spPr>
          <a:xfrm>
            <a:off x="5875000" y="3870000"/>
            <a:ext cx="150000" cy="150000"/>
          </a:xfrm>
          <a:prstGeom prst="ellipse">
            <a:avLst/>
          </a:prstGeom>
          <a:solidFill>
            <a:srgbClr val="6FC0B4"/>
          </a:solidFill>
          <a:ln/>
        </p:spPr>
      </p:sp>
      <p:sp>
        <p:nvSpPr>
          <p:cNvPr id="20" name="Dot3"/>
          <p:cNvSpPr/>
          <p:nvPr/>
        </p:nvSpPr>
        <p:spPr>
          <a:xfrm>
            <a:off x="6675000" y="3715000"/>
            <a:ext cx="150000" cy="150000"/>
          </a:xfrm>
          <a:prstGeom prst="ellipse">
            <a:avLst/>
          </a:prstGeom>
          <a:solidFill>
            <a:srgbClr val="6FC0B4"/>
          </a:solidFill>
          <a:ln/>
        </p:spPr>
      </p:sp>
      <p:sp>
        <p:nvSpPr>
          <p:cNvPr id="21" name="Dot4"/>
          <p:cNvSpPr/>
          <p:nvPr/>
        </p:nvSpPr>
        <p:spPr>
          <a:xfrm>
            <a:off x="7470000" y="3500000"/>
            <a:ext cx="260000" cy="2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FC0B4"/>
            </a:solidFill>
          </a:ln>
        </p:spPr>
      </p:sp>
      <p:sp>
        <p:nvSpPr>
          <p:cNvPr id="22" name="RightCap"/>
          <p:cNvSpPr/>
          <p:nvPr/>
        </p:nvSpPr>
        <p:spPr>
          <a:xfrm>
            <a:off x="4892040" y="4250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多次小躍進 → 累積成歷程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四組辯證張力:本文的核心框架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· 框架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11 / 25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6D8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Rivard 借用 Klag &amp; Langley (2013) 的四組辯證張力，主張作者應在每組對立的心智狀態之間「有意識地交替」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658368"/>
          </a:xfrm>
          <a:prstGeom prst="rect">
            <a:avLst/>
          </a:prstGeom>
          <a:solidFill>
            <a:srgbClr val="1D4E53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80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</a:t>
            </a:r>
            <a:pPr indent="0" marL="0">
              <a:buNone/>
            </a:pPr>
            <a:r>
              <a:rPr lang="en-US" sz="1100" dirty="0">
                <a:solidFill>
                  <a:srgbClr val="6FC0B4"/>
                </a:solidFill>
              </a:rPr>
              <a:t xml:space="preserve">  ／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1655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運用經驗與專業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0" y="132588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⇌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380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Knowing</a:t>
            </a:r>
            <a:pPr indent="0" marL="0">
              <a:buNone/>
            </a:pPr>
            <a:r>
              <a:rPr lang="en-US" sz="1100" dirty="0">
                <a:solidFill>
                  <a:srgbClr val="2A8C82"/>
                </a:solidFill>
              </a:rPr>
              <a:t xml:space="preserve">  ／  </a:t>
            </a:r>
            <a:pPr indent="0" marL="0">
              <a:buNone/>
            </a:pPr>
            <a:r>
              <a:rPr lang="en-US" sz="125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83480" y="1655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擁抱懷疑、發揮素人視角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084832"/>
            <a:ext cx="3840480" cy="658368"/>
          </a:xfrm>
          <a:prstGeom prst="rect">
            <a:avLst/>
          </a:prstGeom>
          <a:solidFill>
            <a:srgbClr val="1D4E53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139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pPr indent="0" marL="0">
              <a:buNone/>
            </a:pPr>
            <a:r>
              <a:rPr lang="en-US" sz="1100" dirty="0">
                <a:solidFill>
                  <a:srgbClr val="6FC0B4"/>
                </a:solidFill>
              </a:rPr>
              <a:t xml:space="preserve">  ／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" y="24140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操作資料、播下種子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0" y="208483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⇌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846320" y="2084832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139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Detachment</a:t>
            </a:r>
            <a:pPr indent="0" marL="0">
              <a:buNone/>
            </a:pPr>
            <a:r>
              <a:rPr lang="en-US" sz="1100" dirty="0">
                <a:solidFill>
                  <a:srgbClr val="2A8C82"/>
                </a:solidFill>
              </a:rPr>
              <a:t xml:space="preserve">  ／  </a:t>
            </a:r>
            <a:pPr indent="0" marL="0">
              <a:buNone/>
            </a:pPr>
            <a:r>
              <a:rPr lang="en-US" sz="125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抽離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83480" y="24140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孵化以培育想法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843784"/>
            <a:ext cx="3840480" cy="658368"/>
          </a:xfrm>
          <a:prstGeom prst="rect">
            <a:avLst/>
          </a:prstGeom>
          <a:solidFill>
            <a:srgbClr val="1D4E53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898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Deliberation</a:t>
            </a:r>
            <a:pPr indent="0" marL="0">
              <a:buNone/>
            </a:pPr>
            <a:r>
              <a:rPr lang="en-US" sz="1100" dirty="0">
                <a:solidFill>
                  <a:srgbClr val="6FC0B4"/>
                </a:solidFill>
              </a:rPr>
              <a:t xml:space="preserve">  ／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刻意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4360" y="3172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用啟發法激盪多樣性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97680" y="284378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⇌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846320" y="2843784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898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Serendipity</a:t>
            </a:r>
            <a:pPr indent="0" marL="0">
              <a:buNone/>
            </a:pPr>
            <a:r>
              <a:rPr lang="en-US" sz="1100" dirty="0">
                <a:solidFill>
                  <a:srgbClr val="2A8C82"/>
                </a:solidFill>
              </a:rPr>
              <a:t xml:space="preserve">  ／  </a:t>
            </a:r>
            <a:pPr indent="0" marL="0">
              <a:buNone/>
            </a:pPr>
            <a:r>
              <a:rPr lang="en-US" sz="125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機緣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983480" y="3172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利用偶然注入新意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602736"/>
            <a:ext cx="3840480" cy="658368"/>
          </a:xfrm>
          <a:prstGeom prst="rect">
            <a:avLst/>
          </a:prstGeom>
          <a:solidFill>
            <a:srgbClr val="1D4E53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Self-expression</a:t>
            </a:r>
            <a:pPr indent="0" marL="0">
              <a:buNone/>
            </a:pPr>
            <a:r>
              <a:rPr lang="en-US" sz="1100" dirty="0">
                <a:solidFill>
                  <a:srgbClr val="6FC0B4"/>
                </a:solidFill>
              </a:rPr>
              <a:t xml:space="preserve">  ／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自我表達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94360" y="3931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運用主觀創造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297680" y="360273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⇌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4846320" y="3602736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Connection</a:t>
            </a:r>
            <a:pPr indent="0" marL="0">
              <a:buNone/>
            </a:pPr>
            <a:r>
              <a:rPr lang="en-US" sz="1100" dirty="0">
                <a:solidFill>
                  <a:srgbClr val="2A8C82"/>
                </a:solidFill>
              </a:rPr>
              <a:t xml:space="preserve">  ／  </a:t>
            </a:r>
            <a:pPr indent="0" marL="0">
              <a:buNone/>
            </a:pPr>
            <a:r>
              <a:rPr lang="en-US" sz="125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社會連結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983480" y="3931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運用同儕鑲嵌性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資料來源:Klag &amp; Langley (2013, p. 152), Table 1，經 Rivard (2024) 改寫應用於文獻回顧情境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4E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8C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spc="-800" kern="0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0" dirty="0"/>
          </a:p>
        </p:txBody>
      </p:sp>
      <p:sp>
        <p:nvSpPr>
          <p:cNvPr id="4" name="Shape 2"/>
          <p:cNvSpPr/>
          <p:nvPr/>
        </p:nvSpPr>
        <p:spPr>
          <a:xfrm>
            <a:off x="4434840" y="1554480"/>
            <a:ext cx="0" cy="2103120"/>
          </a:xfrm>
          <a:prstGeom prst="line">
            <a:avLst/>
          </a:prstGeom>
          <a:noFill/>
          <a:ln w="19050">
            <a:solidFill>
              <a:srgbClr val="2A8C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0" y="1874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四組張力深入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75488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Diving into the four dialectic tensions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3108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逐一展開四組張力的內涵、工具與作者親身案例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張力 ①  知道 vs. 不知道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· 張力深入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14 / 25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6D8D5"/>
            </a:solidFill>
            <a:prstDash val="solid"/>
          </a:ln>
        </p:spPr>
      </p:sp>
      <p:sp>
        <p:nvSpPr>
          <p:cNvPr id="40" name="poleline"/>
          <p:cNvSpPr/>
          <p:nvPr/>
        </p:nvSpPr>
        <p:spPr>
          <a:xfrm>
            <a:off x="3357200" y="1095000"/>
            <a:ext cx="2429600" cy="0"/>
          </a:xfrm>
          <a:prstGeom prst="line">
            <a:avLst/>
          </a:prstGeom>
          <a:noFill/>
          <a:ln w="19050">
            <a:solidFill>
              <a:srgbClr val="C6D8D5"/>
            </a:solidFill>
            <a:prstDash val="dash"/>
          </a:ln>
        </p:spPr>
      </p:sp>
      <p:sp>
        <p:nvSpPr>
          <p:cNvPr id="41" name="pill41"/>
          <p:cNvSpPr/>
          <p:nvPr/>
        </p:nvSpPr>
        <p:spPr>
          <a:xfrm>
            <a:off x="457200" y="860000"/>
            <a:ext cx="2900000" cy="470000"/>
          </a:xfrm>
          <a:prstGeom prst="roundRect">
            <a:avLst>
              <a:gd name="adj" fmla="val 22000"/>
            </a:avLst>
          </a:prstGeom>
          <a:solidFill>
            <a:srgbClr val="1D4E53"/>
          </a:solidFill>
          <a:ln/>
        </p:spPr>
      </p:sp>
      <p:sp>
        <p:nvSpPr>
          <p:cNvPr id="42" name="ptxt42"/>
          <p:cNvSpPr/>
          <p:nvPr/>
        </p:nvSpPr>
        <p:spPr>
          <a:xfrm>
            <a:off x="457200" y="860000"/>
            <a:ext cx="290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Knowing ／ 知道</a:t>
            </a:r>
          </a:p>
        </p:txBody>
      </p:sp>
      <p:sp>
        <p:nvSpPr>
          <p:cNvPr id="43" name="pill43"/>
          <p:cNvSpPr/>
          <p:nvPr/>
        </p:nvSpPr>
        <p:spPr>
          <a:xfrm>
            <a:off x="5786800" y="860000"/>
            <a:ext cx="2900000" cy="470000"/>
          </a:xfrm>
          <a:prstGeom prst="roundRect">
            <a:avLst>
              <a:gd name="adj" fmla="val 22000"/>
            </a:avLst>
          </a:prstGeom>
          <a:solidFill>
            <a:srgbClr val="DCEAE7"/>
          </a:solidFill>
          <a:ln w="9525">
            <a:solidFill>
              <a:srgbClr val="C6D8D5"/>
            </a:solidFill>
          </a:ln>
        </p:spPr>
      </p:sp>
      <p:sp>
        <p:nvSpPr>
          <p:cNvPr id="44" name="ptxt44"/>
          <p:cNvSpPr/>
          <p:nvPr/>
        </p:nvSpPr>
        <p:spPr>
          <a:xfrm>
            <a:off x="5786800" y="860000"/>
            <a:ext cx="290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 Knowing ／ 不知道</a:t>
            </a:r>
          </a:p>
        </p:txBody>
      </p:sp>
      <p:sp>
        <p:nvSpPr>
          <p:cNvPr id="46" name="poleC"/>
          <p:cNvSpPr/>
          <p:nvPr/>
        </p:nvSpPr>
        <p:spPr>
          <a:xfrm>
            <a:off x="4302000" y="825000"/>
            <a:ext cx="540000" cy="540000"/>
          </a:xfrm>
          <a:prstGeom prst="ellipse">
            <a:avLst/>
          </a:prstGeom>
          <a:solidFill>
            <a:srgbClr val="2A8C82"/>
          </a:solidFill>
          <a:ln/>
        </p:spPr>
      </p:sp>
      <p:sp>
        <p:nvSpPr>
          <p:cNvPr id="47" name="poleCt"/>
          <p:cNvSpPr/>
          <p:nvPr/>
        </p:nvSpPr>
        <p:spPr>
          <a:xfrm>
            <a:off x="4302000" y="825000"/>
            <a:ext cx="5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⇌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77640" cy="3108960"/>
          </a:xfrm>
          <a:prstGeom prst="rect">
            <a:avLst/>
          </a:prstGeom>
          <a:solidFill>
            <a:srgbClr val="1D4E5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3977640" cy="384048"/>
          </a:xfrm>
          <a:prstGeom prst="rect">
            <a:avLst/>
          </a:prstGeom>
          <a:solidFill>
            <a:srgbClr val="13383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Knowing  ／  運用既有知識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優勢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已掌握領域關鍵作者、核心概念、重要理論、爭點所在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風險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熟悉感易成偏誤，阻礙從文獻中發現新事物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該怎麼做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用累積知識評估「不知道」狀態下的發現；而這種知識並非專家專利，新手亦有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97764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4E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463040"/>
            <a:ext cx="3977640" cy="384048"/>
          </a:xfrm>
          <a:prstGeom prst="rect">
            <a:avLst/>
          </a:prstGeom>
          <a:solidFill>
            <a:srgbClr val="DCEAE7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4630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 Knowing  ／  暫停既有知識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92040" y="196596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核心動作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刻意「暫停既有信念」(willful suspension)，以新的眼睛重讀文獻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具體技巧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Wolfswinkel et al. (2014):找到文獻後「隨機」挑選來讀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（而不是按年代、字母、子領域順序）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目標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察覺文獻中的「張力、對立、矛盾」(Shepherd &amp; Sutcliffe, 2011)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張力 ②  投入 vs. 抽離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· 張力深入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15 / 25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6D8D5"/>
            </a:solidFill>
            <a:prstDash val="solid"/>
          </a:ln>
        </p:spPr>
      </p:sp>
      <p:sp>
        <p:nvSpPr>
          <p:cNvPr id="40" name="poleline"/>
          <p:cNvSpPr/>
          <p:nvPr/>
        </p:nvSpPr>
        <p:spPr>
          <a:xfrm>
            <a:off x="3357200" y="1095000"/>
            <a:ext cx="2429600" cy="0"/>
          </a:xfrm>
          <a:prstGeom prst="line">
            <a:avLst/>
          </a:prstGeom>
          <a:noFill/>
          <a:ln w="19050">
            <a:solidFill>
              <a:srgbClr val="C6D8D5"/>
            </a:solidFill>
            <a:prstDash val="dash"/>
          </a:ln>
        </p:spPr>
      </p:sp>
      <p:sp>
        <p:nvSpPr>
          <p:cNvPr id="41" name="pill41"/>
          <p:cNvSpPr/>
          <p:nvPr/>
        </p:nvSpPr>
        <p:spPr>
          <a:xfrm>
            <a:off x="457200" y="860000"/>
            <a:ext cx="2900000" cy="470000"/>
          </a:xfrm>
          <a:prstGeom prst="roundRect">
            <a:avLst>
              <a:gd name="adj" fmla="val 22000"/>
            </a:avLst>
          </a:prstGeom>
          <a:solidFill>
            <a:srgbClr val="1D4E53"/>
          </a:solidFill>
          <a:ln/>
        </p:spPr>
      </p:sp>
      <p:sp>
        <p:nvSpPr>
          <p:cNvPr id="42" name="ptxt42"/>
          <p:cNvSpPr/>
          <p:nvPr/>
        </p:nvSpPr>
        <p:spPr>
          <a:xfrm>
            <a:off x="457200" y="860000"/>
            <a:ext cx="290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Engagement ／ 投入</a:t>
            </a:r>
          </a:p>
        </p:txBody>
      </p:sp>
      <p:sp>
        <p:nvSpPr>
          <p:cNvPr id="43" name="pill43"/>
          <p:cNvSpPr/>
          <p:nvPr/>
        </p:nvSpPr>
        <p:spPr>
          <a:xfrm>
            <a:off x="5786800" y="860000"/>
            <a:ext cx="2900000" cy="470000"/>
          </a:xfrm>
          <a:prstGeom prst="roundRect">
            <a:avLst>
              <a:gd name="adj" fmla="val 22000"/>
            </a:avLst>
          </a:prstGeom>
          <a:solidFill>
            <a:srgbClr val="DCEAE7"/>
          </a:solidFill>
          <a:ln w="9525">
            <a:solidFill>
              <a:srgbClr val="C6D8D5"/>
            </a:solidFill>
          </a:ln>
        </p:spPr>
      </p:sp>
      <p:sp>
        <p:nvSpPr>
          <p:cNvPr id="44" name="ptxt44"/>
          <p:cNvSpPr/>
          <p:nvPr/>
        </p:nvSpPr>
        <p:spPr>
          <a:xfrm>
            <a:off x="5786800" y="860000"/>
            <a:ext cx="290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Detachment ／ 抽離</a:t>
            </a:r>
          </a:p>
        </p:txBody>
      </p:sp>
      <p:sp>
        <p:nvSpPr>
          <p:cNvPr id="46" name="poleC"/>
          <p:cNvSpPr/>
          <p:nvPr/>
        </p:nvSpPr>
        <p:spPr>
          <a:xfrm>
            <a:off x="4302000" y="825000"/>
            <a:ext cx="540000" cy="540000"/>
          </a:xfrm>
          <a:prstGeom prst="ellipse">
            <a:avLst/>
          </a:prstGeom>
          <a:solidFill>
            <a:srgbClr val="2A8C82"/>
          </a:solidFill>
          <a:ln/>
        </p:spPr>
      </p:sp>
      <p:sp>
        <p:nvSpPr>
          <p:cNvPr id="47" name="poleCt"/>
          <p:cNvSpPr/>
          <p:nvPr/>
        </p:nvSpPr>
        <p:spPr>
          <a:xfrm>
            <a:off x="4302000" y="825000"/>
            <a:ext cx="5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⇌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77640" cy="3108960"/>
          </a:xfrm>
          <a:prstGeom prst="rect">
            <a:avLst/>
          </a:prstGeom>
          <a:solidFill>
            <a:srgbClr val="1D4E5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3977640" cy="384048"/>
          </a:xfrm>
          <a:prstGeom prst="rect">
            <a:avLst/>
          </a:prstGeom>
          <a:solidFill>
            <a:srgbClr val="13383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Engagement  ／  投入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做什麼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「組織、比較、摘要、詮釋」已抽取的資訊以提出貢獻 (Templier &amp; Paré, 2015)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具體方法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紮根理論編碼:open → axial → selective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(Wolfswinkel et al., 2014)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Webster &amp; Watson (2002) 兩種表格: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   以作者為中心 ／ 以概念為中心  (下一頁詳解)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97764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4E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463040"/>
            <a:ext cx="3977640" cy="384048"/>
          </a:xfrm>
          <a:prstGeom prst="rect">
            <a:avLst/>
          </a:prstGeom>
          <a:solidFill>
            <a:srgbClr val="DCEAE7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4630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Detachment  ／  抽離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92040" y="196596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核心觀念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孵化:暫時離開問題，讓答案不費力浮現 (Wallas, 1926; Sio &amp; Ormerod, 2009)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愛因斯坦的例子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「每當走到盡頭，他走向音樂」——莫札特是愛因斯坦的孵化器 (Miller, 2006)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組合式遊戲（combinatory play）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Rivard (2021) 稱為「喘息」:意識在處理別的事，潛意識持續搬弄想法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Webster &amp; Watson 的兩種分析表格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· 張力深入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16 / 25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6D8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這是寫文獻回顧最實用的兩個工具——也是 Rivard 反覆推薦的方法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776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C6D8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3977640" cy="384048"/>
          </a:xfrm>
          <a:prstGeom prst="rect">
            <a:avLst/>
          </a:prstGeom>
          <a:solidFill>
            <a:srgbClr val="DCEAE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以作者為中心  Author-centric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3657600" cy="960120"/>
          </a:xfrm>
          <a:prstGeom prst="rect">
            <a:avLst/>
          </a:prstGeom>
          <a:solidFill>
            <a:srgbClr val="F2F5F4"/>
          </a:solidFill>
          <a:ln w="3810">
            <a:solidFill>
              <a:srgbClr val="C6D8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745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1D4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作者 A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 …  概念 X、概念 Y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1D4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作者 B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 …  概念 X、概念 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適用時機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處於「不知道」狀態時的入門表格——簡單易做、可隨時擴充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作為文獻回顧的「文件基底」(document base)，修稿時可持續累積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34840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709160" y="1280160"/>
            <a:ext cx="3977640" cy="3246120"/>
          </a:xfrm>
          <a:prstGeom prst="rect">
            <a:avLst/>
          </a:prstGeom>
          <a:solidFill>
            <a:srgbClr val="1D4E53"/>
          </a:solidFill>
          <a:ln/>
        </p:spPr>
      </p:sp>
      <p:sp>
        <p:nvSpPr>
          <p:cNvPr id="14" name="Shape 12"/>
          <p:cNvSpPr/>
          <p:nvPr/>
        </p:nvSpPr>
        <p:spPr>
          <a:xfrm>
            <a:off x="4709160" y="1280160"/>
            <a:ext cx="3977640" cy="384048"/>
          </a:xfrm>
          <a:prstGeom prst="rect">
            <a:avLst/>
          </a:prstGeom>
          <a:solidFill>
            <a:srgbClr val="13383D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2801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以概念為中心  Concept-centric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92040" y="1783080"/>
            <a:ext cx="3657600" cy="960120"/>
          </a:xfrm>
          <a:prstGeom prst="rect">
            <a:avLst/>
          </a:prstGeom>
          <a:solidFill>
            <a:srgbClr val="13383D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8745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 X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 …  [作者 A、作者 B]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 Y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 …  [作者 A、作者 C]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88036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適用時機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建立對文獻的「理解」——較難但更有貢獻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檢視「哪些概念被一起研究」、「關係是否被假設」——是發現張力、對立、缺口的關鍵工具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張力 ③  刻意 vs. 機緣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· 張力深入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17 / 25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6D8D5"/>
            </a:solidFill>
            <a:prstDash val="solid"/>
          </a:ln>
        </p:spPr>
      </p:sp>
      <p:sp>
        <p:nvSpPr>
          <p:cNvPr id="40" name="poleline"/>
          <p:cNvSpPr/>
          <p:nvPr/>
        </p:nvSpPr>
        <p:spPr>
          <a:xfrm>
            <a:off x="3357200" y="1095000"/>
            <a:ext cx="2429600" cy="0"/>
          </a:xfrm>
          <a:prstGeom prst="line">
            <a:avLst/>
          </a:prstGeom>
          <a:noFill/>
          <a:ln w="19050">
            <a:solidFill>
              <a:srgbClr val="C6D8D5"/>
            </a:solidFill>
            <a:prstDash val="dash"/>
          </a:ln>
        </p:spPr>
      </p:sp>
      <p:sp>
        <p:nvSpPr>
          <p:cNvPr id="41" name="pill41"/>
          <p:cNvSpPr/>
          <p:nvPr/>
        </p:nvSpPr>
        <p:spPr>
          <a:xfrm>
            <a:off x="457200" y="860000"/>
            <a:ext cx="2900000" cy="470000"/>
          </a:xfrm>
          <a:prstGeom prst="roundRect">
            <a:avLst>
              <a:gd name="adj" fmla="val 22000"/>
            </a:avLst>
          </a:prstGeom>
          <a:solidFill>
            <a:srgbClr val="1D4E53"/>
          </a:solidFill>
          <a:ln/>
        </p:spPr>
      </p:sp>
      <p:sp>
        <p:nvSpPr>
          <p:cNvPr id="42" name="ptxt42"/>
          <p:cNvSpPr/>
          <p:nvPr/>
        </p:nvSpPr>
        <p:spPr>
          <a:xfrm>
            <a:off x="457200" y="860000"/>
            <a:ext cx="290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Deliberation ／ 刻意</a:t>
            </a:r>
          </a:p>
        </p:txBody>
      </p:sp>
      <p:sp>
        <p:nvSpPr>
          <p:cNvPr id="43" name="pill43"/>
          <p:cNvSpPr/>
          <p:nvPr/>
        </p:nvSpPr>
        <p:spPr>
          <a:xfrm>
            <a:off x="5786800" y="860000"/>
            <a:ext cx="2900000" cy="470000"/>
          </a:xfrm>
          <a:prstGeom prst="roundRect">
            <a:avLst>
              <a:gd name="adj" fmla="val 22000"/>
            </a:avLst>
          </a:prstGeom>
          <a:solidFill>
            <a:srgbClr val="DCEAE7"/>
          </a:solidFill>
          <a:ln w="9525">
            <a:solidFill>
              <a:srgbClr val="C6D8D5"/>
            </a:solidFill>
          </a:ln>
        </p:spPr>
      </p:sp>
      <p:sp>
        <p:nvSpPr>
          <p:cNvPr id="44" name="ptxt44"/>
          <p:cNvSpPr/>
          <p:nvPr/>
        </p:nvSpPr>
        <p:spPr>
          <a:xfrm>
            <a:off x="5786800" y="860000"/>
            <a:ext cx="290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Serendipity ／ 機緣</a:t>
            </a:r>
          </a:p>
        </p:txBody>
      </p:sp>
      <p:sp>
        <p:nvSpPr>
          <p:cNvPr id="46" name="poleC"/>
          <p:cNvSpPr/>
          <p:nvPr/>
        </p:nvSpPr>
        <p:spPr>
          <a:xfrm>
            <a:off x="4302000" y="825000"/>
            <a:ext cx="540000" cy="540000"/>
          </a:xfrm>
          <a:prstGeom prst="ellipse">
            <a:avLst/>
          </a:prstGeom>
          <a:solidFill>
            <a:srgbClr val="2A8C82"/>
          </a:solidFill>
          <a:ln/>
        </p:spPr>
      </p:sp>
      <p:sp>
        <p:nvSpPr>
          <p:cNvPr id="47" name="poleCt"/>
          <p:cNvSpPr/>
          <p:nvPr/>
        </p:nvSpPr>
        <p:spPr>
          <a:xfrm>
            <a:off x="4302000" y="825000"/>
            <a:ext cx="5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⇌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77640" cy="3108960"/>
          </a:xfrm>
          <a:prstGeom prst="rect">
            <a:avLst/>
          </a:prstGeom>
          <a:solidFill>
            <a:srgbClr val="1D4E5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3977640" cy="384048"/>
          </a:xfrm>
          <a:prstGeom prst="rect">
            <a:avLst/>
          </a:prstGeom>
          <a:solidFill>
            <a:srgbClr val="13383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Deliberation  ／  刻意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重點區別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比「投入」抽象一層:分析的不是文獻本身，而是你的「理解」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可用的啟發法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（節錄自 Jaccard &amp; Jacoby, 2020 的 27 個工具）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反假設:對既有研究的預設提出對立假設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問題化（problematization） (Alvesson &amp; Sandberg, 2011)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思想實驗、反事實推理、極端推演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比較不同文獻體系背後的假設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97764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4E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463040"/>
            <a:ext cx="3977640" cy="384048"/>
          </a:xfrm>
          <a:prstGeom prst="rect">
            <a:avLst/>
          </a:prstGeom>
          <a:solidFill>
            <a:srgbClr val="DCEAE7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4630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Serendipity  ／  機緣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92040" y="196596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詞源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Walpole (1754):「依意外與敏銳判斷，發現原非追尋之物」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關鍵:不是純然的「運氣」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Sagacity（敏銳判斷力）才是核心——多少人見蘋果落地，唯牛頓悟出引力？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在文獻回顧中的形式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在文獻中發現「不符合預期」的論文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觀察到不同研究結果之間「耐人尋味的矛盾」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偶然從同事的閒聊中得到啟發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機緣的真實案例:Kappos &amp; Rivard (2008)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· 張力深入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18 / 25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6D8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作者自己的故事——一個被多數研究者會忽略的「異常值」，反而成為理論突破的起點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53312"/>
            <a:ext cx="457200" cy="457200"/>
          </a:xfrm>
          <a:prstGeom prst="ellipse">
            <a:avLst/>
          </a:prstGeom>
          <a:solidFill>
            <a:srgbClr val="1D4E5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1810512"/>
            <a:ext cx="0" cy="128016"/>
          </a:xfrm>
          <a:prstGeom prst="line">
            <a:avLst/>
          </a:prstGeom>
          <a:noFill/>
          <a:ln w="19050">
            <a:solidFill>
              <a:srgbClr val="C6D8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3533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135331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Kappos &amp; Rivard 在做「文化與資訊系統」的文獻回顧，蒐集到 56 篇核心文章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993392"/>
            <a:ext cx="457200" cy="457200"/>
          </a:xfrm>
          <a:prstGeom prst="ellipse">
            <a:avLst/>
          </a:prstGeom>
          <a:solidFill>
            <a:srgbClr val="1D4E5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2450592"/>
            <a:ext cx="0" cy="128016"/>
          </a:xfrm>
          <a:prstGeom prst="line">
            <a:avLst/>
          </a:prstGeom>
          <a:noFill/>
          <a:ln w="19050">
            <a:solidFill>
              <a:srgbClr val="C6D8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1993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199339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其中 55 篇都從「整合觀點」(integration) 或「差異觀點」(differentiation) 概念化文化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33472"/>
            <a:ext cx="457200" cy="457200"/>
          </a:xfrm>
          <a:prstGeom prst="ellipse">
            <a:avLst/>
          </a:prstGeom>
          <a:solidFill>
            <a:srgbClr val="1D4E5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3090672"/>
            <a:ext cx="0" cy="128016"/>
          </a:xfrm>
          <a:prstGeom prst="line">
            <a:avLst/>
          </a:prstGeom>
          <a:noFill/>
          <a:ln w="19050">
            <a:solidFill>
              <a:srgbClr val="C6D8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2633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77440" y="263347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Dubé &amp; Robey (1999) 是唯一例外——採用 Martin (1992) 的三觀點理論（整合 + 差異 + 分裂）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273552"/>
            <a:ext cx="457200" cy="457200"/>
          </a:xfrm>
          <a:prstGeom prst="ellipse">
            <a:avLst/>
          </a:prstGeom>
          <a:solidFill>
            <a:srgbClr val="2A8C8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" y="3730752"/>
            <a:ext cx="0" cy="128016"/>
          </a:xfrm>
          <a:prstGeom prst="line">
            <a:avLst/>
          </a:prstGeom>
          <a:noFill/>
          <a:ln w="19050">
            <a:solidFill>
              <a:srgbClr val="C6D8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3273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77440" y="327355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如果忽略這個「異常值」，就只是依規律分類完事；但作者選擇抓住它，深入 Martin 的理論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913632"/>
            <a:ext cx="457200" cy="457200"/>
          </a:xfrm>
          <a:prstGeom prst="ellipse">
            <a:avLst/>
          </a:prstGeom>
          <a:solidFill>
            <a:srgbClr val="1D4E53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3913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77440" y="391363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重新進入「知道-不知道、投入-抽離、刻意-機緣」的迴圈，最終建構出更豐富的三層次模型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solidFill>
            <a:srgbClr val="1D4E53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啟示   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「異常值不是雜訊——它可能是還沒被理解的訊號」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張力 ④  自我表達 vs. 社會連結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· 張力深入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19 / 25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6D8D5"/>
            </a:solidFill>
            <a:prstDash val="solid"/>
          </a:ln>
        </p:spPr>
      </p:sp>
      <p:sp>
        <p:nvSpPr>
          <p:cNvPr id="40" name="poleline"/>
          <p:cNvSpPr/>
          <p:nvPr/>
        </p:nvSpPr>
        <p:spPr>
          <a:xfrm>
            <a:off x="3357200" y="1095000"/>
            <a:ext cx="2429600" cy="0"/>
          </a:xfrm>
          <a:prstGeom prst="line">
            <a:avLst/>
          </a:prstGeom>
          <a:noFill/>
          <a:ln w="19050">
            <a:solidFill>
              <a:srgbClr val="C6D8D5"/>
            </a:solidFill>
            <a:prstDash val="dash"/>
          </a:ln>
        </p:spPr>
      </p:sp>
      <p:sp>
        <p:nvSpPr>
          <p:cNvPr id="41" name="pill41"/>
          <p:cNvSpPr/>
          <p:nvPr/>
        </p:nvSpPr>
        <p:spPr>
          <a:xfrm>
            <a:off x="457200" y="860000"/>
            <a:ext cx="2900000" cy="470000"/>
          </a:xfrm>
          <a:prstGeom prst="roundRect">
            <a:avLst>
              <a:gd name="adj" fmla="val 22000"/>
            </a:avLst>
          </a:prstGeom>
          <a:solidFill>
            <a:srgbClr val="1D4E53"/>
          </a:solidFill>
          <a:ln/>
        </p:spPr>
      </p:sp>
      <p:sp>
        <p:nvSpPr>
          <p:cNvPr id="42" name="ptxt42"/>
          <p:cNvSpPr/>
          <p:nvPr/>
        </p:nvSpPr>
        <p:spPr>
          <a:xfrm>
            <a:off x="457200" y="860000"/>
            <a:ext cx="290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Self-expression 自我表達</a:t>
            </a:r>
          </a:p>
        </p:txBody>
      </p:sp>
      <p:sp>
        <p:nvSpPr>
          <p:cNvPr id="43" name="pill43"/>
          <p:cNvSpPr/>
          <p:nvPr/>
        </p:nvSpPr>
        <p:spPr>
          <a:xfrm>
            <a:off x="5786800" y="860000"/>
            <a:ext cx="2900000" cy="470000"/>
          </a:xfrm>
          <a:prstGeom prst="roundRect">
            <a:avLst>
              <a:gd name="adj" fmla="val 22000"/>
            </a:avLst>
          </a:prstGeom>
          <a:solidFill>
            <a:srgbClr val="DCEAE7"/>
          </a:solidFill>
          <a:ln w="9525">
            <a:solidFill>
              <a:srgbClr val="C6D8D5"/>
            </a:solidFill>
          </a:ln>
        </p:spPr>
      </p:sp>
      <p:sp>
        <p:nvSpPr>
          <p:cNvPr id="44" name="ptxt44"/>
          <p:cNvSpPr/>
          <p:nvPr/>
        </p:nvSpPr>
        <p:spPr>
          <a:xfrm>
            <a:off x="5786800" y="860000"/>
            <a:ext cx="290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Social Connection 社會連結</a:t>
            </a:r>
          </a:p>
        </p:txBody>
      </p:sp>
      <p:sp>
        <p:nvSpPr>
          <p:cNvPr id="46" name="poleC"/>
          <p:cNvSpPr/>
          <p:nvPr/>
        </p:nvSpPr>
        <p:spPr>
          <a:xfrm>
            <a:off x="4302000" y="825000"/>
            <a:ext cx="540000" cy="540000"/>
          </a:xfrm>
          <a:prstGeom prst="ellipse">
            <a:avLst/>
          </a:prstGeom>
          <a:solidFill>
            <a:srgbClr val="2A8C82"/>
          </a:solidFill>
          <a:ln/>
        </p:spPr>
      </p:sp>
      <p:sp>
        <p:nvSpPr>
          <p:cNvPr id="47" name="poleCt"/>
          <p:cNvSpPr/>
          <p:nvPr/>
        </p:nvSpPr>
        <p:spPr>
          <a:xfrm>
            <a:off x="4302000" y="825000"/>
            <a:ext cx="54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⇌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77640" cy="3108960"/>
          </a:xfrm>
          <a:prstGeom prst="rect">
            <a:avLst/>
          </a:prstGeom>
          <a:solidFill>
            <a:srgbClr val="1D4E5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3977640" cy="384048"/>
          </a:xfrm>
          <a:prstGeom prst="rect">
            <a:avLst/>
          </a:prstGeom>
          <a:solidFill>
            <a:srgbClr val="13383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Self-expression  ／  自我表達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立場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理解／解釋型回顧需作者擁抱主觀性、展現創造力，超越分類整理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案例:Markus &amp; Mao (2004)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IS 核心概念「參與」直接下強烈評斷——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「對今天的 IS 情境而言，這是一個過時、疲累的概念」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但以文獻分析支持，並提出全新的概念架構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97764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4E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463040"/>
            <a:ext cx="3977640" cy="384048"/>
          </a:xfrm>
          <a:prstGeom prst="rect">
            <a:avLst/>
          </a:prstGeom>
          <a:solidFill>
            <a:srgbClr val="DCEAE7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4630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Social Connection  ／  社會連結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92040" y="196596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為什麼需要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新見解「除非與他人共鳴，否則不太可能擴散或發展」(Klag &amp; Langley)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形式（從非正式到正式）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與同儕喝咖啡聊天、與指導教授討論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請朋友讀草稿、研討會發表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正式 workshop 接受同儕審查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雙面性提醒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新手易被評論帶偏——social connection 也可能成束縛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D4E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8C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spc="-800" kern="0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0" dirty="0"/>
          </a:p>
        </p:txBody>
      </p:sp>
      <p:sp>
        <p:nvSpPr>
          <p:cNvPr id="4" name="Shape 2"/>
          <p:cNvSpPr/>
          <p:nvPr/>
        </p:nvSpPr>
        <p:spPr>
          <a:xfrm>
            <a:off x="4434840" y="1554480"/>
            <a:ext cx="0" cy="2103120"/>
          </a:xfrm>
          <a:prstGeom prst="line">
            <a:avLst/>
          </a:prstGeom>
          <a:noFill/>
          <a:ln w="19050">
            <a:solidFill>
              <a:srgbClr val="2A8C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0" y="1874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如何實踐這個過程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75488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Enacting the conceptual leaping process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3108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作者給研究者的三點實作建議，以及寫作在整個過程中扮演的角色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作者給研究者的三點建議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· 實踐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21 / 25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6D8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作者強調:「這不是 prescription（處方）」，而是可拿來「嘗試、修補、玩耍、測試」的工具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6D8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960120" cy="1051560"/>
          </a:xfrm>
          <a:prstGeom prst="rect">
            <a:avLst/>
          </a:prstGeom>
          <a:solidFill>
            <a:srgbClr val="1D4E5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600200" y="138988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覺察當下狀態，主動「翻轉」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00200" y="168249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mindfulness（正念覺察）辨識自己目前處於哪一極，過一陣子就刻意切換到對立面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00200" y="195681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範例:投入了好幾小時的文獻分析後，主動去散步或做家事——研究顯示「低認知負荷的活動」比休息更有助於孵化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6D8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23160"/>
            <a:ext cx="960120" cy="1051560"/>
          </a:xfrm>
          <a:prstGeom prst="rect">
            <a:avLst/>
          </a:prstGeom>
          <a:solidFill>
            <a:srgbClr val="1D4E5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2316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1600200" y="253288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不要害怕進入新張力會推翻已有成果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600200" y="282549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我們常抗拒進入下一組張力，因為新觀點可能會挑戰已完成的工作。但要克服這種抗拒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00200" y="309981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誠實提醒:被啟發法檢驗、把異常值當回事、聽進同事的建議——可能需要回頭調整。有時要大幅重做，但作者強調往往只需小幅修補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6D8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66160"/>
            <a:ext cx="960120" cy="1051560"/>
          </a:xfrm>
          <a:prstGeom prst="rect">
            <a:avLst/>
          </a:prstGeom>
          <a:solidFill>
            <a:srgbClr val="1D4E5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56616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1600200" y="367588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在交替中留意「差異」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600200" y="396849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翻轉前後的觀察有什麼不同？哪些矛盾與新想法浮現？這個「對照」本身才是綜合的起點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00200" y="424281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問自己:抽離後浮現的新想法，跟投入時的觀察相比有何差異？施加啟發法後，發現了什麼新「blip」？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D4E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8C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spc="-800" kern="0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0" dirty="0"/>
          </a:p>
        </p:txBody>
      </p:sp>
      <p:sp>
        <p:nvSpPr>
          <p:cNvPr id="4" name="Shape 2"/>
          <p:cNvSpPr/>
          <p:nvPr/>
        </p:nvSpPr>
        <p:spPr>
          <a:xfrm>
            <a:off x="4434840" y="1554480"/>
            <a:ext cx="0" cy="2103120"/>
          </a:xfrm>
          <a:prstGeom prst="line">
            <a:avLst/>
          </a:prstGeom>
          <a:noFill/>
          <a:ln w="19050">
            <a:solidFill>
              <a:srgbClr val="2A8C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0" y="1874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結論與導讀者觀點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75488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reviewer's reflection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3108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辯證綜合的三種結果，以及對自己第二章寫作經驗的對照與批判性反思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寫作的角色 + 辯證綜合的三種結果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· 結論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23 / 25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6D8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2A8C8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寫作 ── 概念躍進的「催化劑」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371600"/>
            <a:ext cx="7360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「正是在寫作的過程中，富有產出的概念想法才得以發展與結晶。」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但更重要的是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「重寫」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 ── 「好的文獻回顧需要被寫好幾次，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以形成更好的理解、並更清楚地傳達給讀者」(Boell &amp; Cecez-Kecmanovic, 2014)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兩極張力交鋒後，可能的三種結果（Van de Ven &amp; Poole, 1995）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6D8D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788920"/>
            <a:ext cx="2651760" cy="45720"/>
          </a:xfrm>
          <a:prstGeom prst="rect">
            <a:avLst/>
          </a:prstGeom>
          <a:solidFill>
            <a:srgbClr val="1D4E53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9436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 / Synthesis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" y="37307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產生一個與原本兩極都不同的「新實體」── 新概念、新理解、新模型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" y="4343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理想結果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46120" y="278892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6D8D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46120" y="2788920"/>
            <a:ext cx="2651760" cy="45720"/>
          </a:xfrm>
          <a:prstGeom prst="rect">
            <a:avLst/>
          </a:prstGeom>
          <a:solidFill>
            <a:srgbClr val="1D4E53"/>
          </a:solidFill>
          <a:ln/>
        </p:spPr>
      </p:sp>
      <p:sp>
        <p:nvSpPr>
          <p:cNvPr id="18" name="Text 15"/>
          <p:cNvSpPr/>
          <p:nvPr/>
        </p:nvSpPr>
        <p:spPr>
          <a:xfrm>
            <a:off x="3246120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338328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壓制 / Defeat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383280" y="37307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一極壓倒另一極 ── 綜合失敗，作者倒回到其中一個原本的立場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383280" y="4343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綜合未竟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035040" y="278892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6D8D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35040" y="2788920"/>
            <a:ext cx="2651760" cy="45720"/>
          </a:xfrm>
          <a:prstGeom prst="rect">
            <a:avLst/>
          </a:prstGeom>
          <a:solidFill>
            <a:srgbClr val="1D4E53"/>
          </a:solidFill>
          <a:ln/>
        </p:spPr>
      </p:sp>
      <p:sp>
        <p:nvSpPr>
          <p:cNvPr id="24" name="Text 21"/>
          <p:cNvSpPr/>
          <p:nvPr/>
        </p:nvSpPr>
        <p:spPr>
          <a:xfrm>
            <a:off x="6035040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617220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僵局 / Stalemate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172200" y="37307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兩極無法整合 ── 「硬思考」走到死胡同，需要 resilience，可能要從頭再來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172200" y="4343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考驗韌性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導讀者觀點 + 結尾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· 結論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24 / 25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6D8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6D8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54864" cy="1417320"/>
          </a:xfrm>
          <a:prstGeom prst="rect">
            <a:avLst/>
          </a:prstGeom>
          <a:solidFill>
            <a:srgbClr val="2A8C8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875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個人共鳴:被 Hard work vs. Hard thinking 點到的瞬間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我目前正在寫論文第二章「蔬菜價格預測」的文獻回顧。最初花了大量時間整理 ARIMA、XGBoost、Prophet 等模型的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技術細節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──但被指出這是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「方法說明書」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，不是「文獻回顧」。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 Rivard 的話:我把 hard work 當成 hard thinking——但其實「這些研究有什麼缺口？我的研究問題從何而生？」才是該回答的問題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C6D8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23160"/>
            <a:ext cx="54864" cy="1627632"/>
          </a:xfrm>
          <a:prstGeom prst="rect">
            <a:avLst/>
          </a:prstGeom>
          <a:solidFill>
            <a:srgbClr val="1D4E5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963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批判性反思:這個框架還有兩個盲點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7863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① 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倖存者偏差?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作者引用的都是「事後成功的案例」（Kappos &amp; Rivard、Markus &amp; Mao），看不到「努力切換心智狀態但失敗」的研究者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② 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AI 時代還適用?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論文已藉 Pan et al. (2023) 預見此題（AI 僅為「補充」、作者才是主要工具）；但我想再追問:當 LLM 能代勞 Engagement 與 Deliberation，人類不可替代的是否只剩 Serendipity 與 Self-expression？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1D4E53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51960"/>
            <a:ext cx="320040" cy="320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416052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To review means to view, inspect, or examine a second time, or again. </a:t>
            </a:r>
            <a:pPr indent="0" marL="0">
              <a:lnSpc>
                <a:spcPct val="125000"/>
              </a:lnSpc>
              <a:buNone/>
            </a:pPr>
            <a:r>
              <a:rPr lang="en-US" sz="1150" b="1" i="1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many times.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「回顧」的意思是再看一次⋯⋯有時候是很多次。</a:t>
            </a:r>
            <a:pPr indent="0" marL="0">
              <a:lnSpc>
                <a:spcPct val="125000"/>
              </a:lnSpc>
              <a:buNone/>
            </a:pPr>
            <a:r>
              <a:rPr lang="en-US" sz="850" i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─ Michailova (2023), cited in Rivard (2024)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本文的文體與定位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· 摘要與大綱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5 / 25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6D8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solidFill>
            <a:srgbClr val="1D4E5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6128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960120"/>
            <a:ext cx="7360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提醒:這是「概念性論文」，不是實證研究——沒有資料、方法與結果章節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920240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6D8D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920240"/>
            <a:ext cx="1280160" cy="868680"/>
          </a:xfrm>
          <a:prstGeom prst="rect">
            <a:avLst/>
          </a:prstGeom>
          <a:solidFill>
            <a:srgbClr val="DCEAE7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920240"/>
            <a:ext cx="54864" cy="868680"/>
          </a:xfrm>
          <a:prstGeom prst="rect">
            <a:avLst/>
          </a:prstGeom>
          <a:solidFill>
            <a:srgbClr val="2A8C82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9202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文體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920240" y="196596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一篇概念性／教學性論文（JSIS，單一作者）。核心動作是把 Klag &amp; Langley (2013) 質性研究的框架「移植並改寫」到文獻回顧情境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6D8D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880360"/>
            <a:ext cx="1280160" cy="868680"/>
          </a:xfrm>
          <a:prstGeom prst="rect">
            <a:avLst/>
          </a:prstGeom>
          <a:solidFill>
            <a:srgbClr val="DCEAE7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2880360"/>
            <a:ext cx="54864" cy="868680"/>
          </a:xfrm>
          <a:prstGeom prst="rect">
            <a:avLst/>
          </a:prstGeom>
          <a:solidFill>
            <a:srgbClr val="2A8C82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28803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論證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920240" y="292608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全文沒有實證資料、樣本與結果章節；論證方式是文獻詮釋、概念推演，以及作者擔任編輯與指導者的經驗反思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6D8D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3840480"/>
            <a:ext cx="1280160" cy="868680"/>
          </a:xfrm>
          <a:prstGeom prst="rect">
            <a:avLst/>
          </a:prstGeom>
          <a:solidFill>
            <a:srgbClr val="DCEAE7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3840480"/>
            <a:ext cx="54864" cy="868680"/>
          </a:xfrm>
          <a:prstGeom prst="rect">
            <a:avLst/>
          </a:prstGeom>
          <a:solidFill>
            <a:srgbClr val="2A8C82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38404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920240" y="388620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屬 Rowe (2014) 所說「方法論／知識論」型的回顧——正是頂級期刊在純描述性之外，少數仍歡迎的文體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借用 vs. 原創:這篇的貢獻是什麼？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· 框架</a:t>
            </a:r>
            <a:pPr algn="r" indent="0" marL="0">
              <a:buNone/>
            </a:pPr>
            <a:r>
              <a:rPr lang="en-US" sz="95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12 / 25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6D8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3977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6D8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365760"/>
          </a:xfrm>
          <a:prstGeom prst="rect">
            <a:avLst/>
          </a:prstGeom>
          <a:solidFill>
            <a:srgbClr val="DCEAE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借用自 Klag &amp; Langley (2013)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D4E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概念躍進的定義與「辯證歷程」觀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  ·  conceptual leap:從資料躍向抽象理論的智識跳躍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  ·  四組辯證張力的核心框架（Table 1）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  ·  躍進是多次小躍進累積、在對立間擺盪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91640"/>
          </a:xfrm>
          <a:prstGeom prst="rect">
            <a:avLst/>
          </a:prstGeom>
          <a:solidFill>
            <a:srgbClr val="1D4E53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9601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Rivard (2024) 的原創貢獻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92040" y="141732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把框架「移植並改寫」到文獻回顧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  ·  「文獻即質性資料」的再框架——讓 K&amp;L 得以套用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  ·  主張躍進自然「從知道-不知道開始」、張力是可切換的心智狀態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  ·  補上三點實踐建議，以及辯證圓環與綜合結果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A8C82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97180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3000" y="2926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8C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一句話總結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" y="33375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這篇的「四組張力」不是 Rivard 的發現——整套框架借自 Klag &amp; Langley (2013) 的質性研究。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D4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D4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Rivard 真正的貢獻是「搭橋」:論證文獻可視為質性資料、使框架得以套用，並主張躍進自然從知道-不知道開始。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她並補上三點實踐建議與辯證圓環——把一個借來的框架，轉化為文獻回顧作者可用的具體指引。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Rivard, S. (2024).  JSIS 33, 101822    ·    鍾昀臻 導讀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4E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8C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31520" cy="0"/>
          </a:xfrm>
          <a:prstGeom prst="line">
            <a:avLst/>
          </a:prstGeom>
          <a:noFill/>
          <a:ln w="19050">
            <a:solidFill>
              <a:srgbClr val="2A8C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謝謝大家</a:t>
            </a:r>
            <a:endParaRPr lang="en-US" sz="3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感謝聆聽，敬請指教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歡迎提問與討論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7863840" cy="0"/>
          </a:xfrm>
          <a:prstGeom prst="line">
            <a:avLst/>
          </a:prstGeom>
          <a:noFill/>
          <a:ln w="9525">
            <a:solidFill>
              <a:srgbClr val="4F93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297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Author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Suzanne Rivard</a:t>
            </a:r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·   HEC Montréal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C0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導讀者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鍾昀臻</a:t>
            </a:r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 xml:space="preserve">   ·   國立中正大學 會計與資訊科技研究所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Unpacking the process of conceptual leaping (Rivard, 2024)</dc:title>
  <dc:subject>PptxGenJS Presentation</dc:subject>
  <dc:creator>鍾昀臻</dc:creator>
  <cp:lastModifiedBy>鍾昀臻</cp:lastModifiedBy>
  <cp:revision>1</cp:revision>
  <dcterms:created xsi:type="dcterms:W3CDTF">2026-05-17T13:16:58Z</dcterms:created>
  <dcterms:modified xsi:type="dcterms:W3CDTF">2026-05-17T13:16:58Z</dcterms:modified>
</cp:coreProperties>
</file>