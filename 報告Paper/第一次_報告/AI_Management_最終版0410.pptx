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8B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6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8206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8B7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400" b="1" kern="0" spc="400" dirty="0" smtClean="0">
                <a:solidFill>
                  <a:srgbClr val="2EC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Management Beyond Myth and Hype: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Systematic Review and Synthesis of the Literature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人工智慧管理：超越迷思與過度渲染的系統性文獻回顧與統整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19" y="2880359"/>
            <a:ext cx="7590229" cy="45719"/>
          </a:xfrm>
          <a:prstGeom prst="rect">
            <a:avLst/>
          </a:prstGeom>
          <a:solidFill>
            <a:srgbClr val="0E8B7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108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Koukouvinou, P., &amp; Holmström, J. (2024)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Pacific Asia Journal of the Association for Information Systems, 16(2), 1-27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023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300" dirty="0" smtClean="0">
                <a:solidFill>
                  <a:srgbClr val="B0C4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</a:t>
            </a:r>
            <a:r>
              <a:rPr lang="en-US" sz="1300" dirty="0" smtClean="0">
                <a:solidFill>
                  <a:srgbClr val="B0C4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：614526005_鍾昀臻</a:t>
            </a:r>
            <a:r>
              <a:rPr lang="en-US" sz="1300" dirty="0">
                <a:solidFill>
                  <a:srgbClr val="B0C4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731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報告大綱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051560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9601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論文摘要總覽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315200" y="960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E8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p.3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1527048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618488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152704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研究背景、動機與研究問題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7315200" y="152704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E8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p.4–5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57200" y="2093976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185416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43000" y="2093976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理論框架與研究方法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7315200" y="209397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E8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p.6–7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457200" y="2660904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2752344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43000" y="266090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研究發現：四大核心維度框架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7315200" y="266090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E8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p.8–13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457200" y="3227832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3319272"/>
            <a:ext cx="256032" cy="25603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143000" y="322783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討論、理論貢獻與實務意涵</a:t>
            </a:r>
            <a:endParaRPr lang="en-US" sz="1500" dirty="0"/>
          </a:p>
        </p:txBody>
      </p:sp>
      <p:sp>
        <p:nvSpPr>
          <p:cNvPr id="25" name="Text 17"/>
          <p:cNvSpPr/>
          <p:nvPr/>
        </p:nvSpPr>
        <p:spPr>
          <a:xfrm>
            <a:off x="7315200" y="32278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E8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p.14–15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3886200"/>
            <a:ext cx="256032" cy="25603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143000" y="37947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未來研究方向與結論</a:t>
            </a:r>
            <a:endParaRPr lang="en-US" sz="1500" dirty="0"/>
          </a:p>
        </p:txBody>
      </p:sp>
      <p:sp>
        <p:nvSpPr>
          <p:cNvPr id="29" name="Text 20"/>
          <p:cNvSpPr/>
          <p:nvPr/>
        </p:nvSpPr>
        <p:spPr>
          <a:xfrm>
            <a:off x="7315200" y="3794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E8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p.16–17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57200" y="4361688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" y="4453128"/>
            <a:ext cx="256032" cy="256032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1143000" y="436168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err="1" smtClean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觀點與反思</a:t>
            </a:r>
            <a:endParaRPr lang="en-US" sz="1500" dirty="0"/>
          </a:p>
        </p:txBody>
      </p:sp>
      <p:sp>
        <p:nvSpPr>
          <p:cNvPr id="33" name="Text 23"/>
          <p:cNvSpPr/>
          <p:nvPr/>
        </p:nvSpPr>
        <p:spPr>
          <a:xfrm>
            <a:off x="7315200" y="43616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E8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p.18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731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論文摘要總覽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914400"/>
            <a:ext cx="1920240" cy="960120"/>
          </a:xfrm>
          <a:prstGeom prst="rect">
            <a:avLst/>
          </a:prstGeom>
          <a:solidFill>
            <a:srgbClr val="2D4A7A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9326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C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期刊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PAJAIS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(AIS 期刊)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542032" y="914400"/>
            <a:ext cx="1920240" cy="960120"/>
          </a:xfrm>
          <a:prstGeom prst="rect">
            <a:avLst/>
          </a:prstGeom>
          <a:solidFill>
            <a:srgbClr val="0E8B7D"/>
          </a:solidFill>
          <a:ln/>
        </p:spPr>
      </p:sp>
      <p:sp>
        <p:nvSpPr>
          <p:cNvPr id="10" name="Text 7"/>
          <p:cNvSpPr/>
          <p:nvPr/>
        </p:nvSpPr>
        <p:spPr>
          <a:xfrm>
            <a:off x="2542032" y="9326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C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方法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542032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 smtClean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系統性文獻回顧</a:t>
            </a:r>
            <a:r>
              <a:rPr lang="en-US" sz="1400" b="1" dirty="0" smtClean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400" b="1" dirty="0" smtClean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</a:t>
            </a: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SLR)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626864" y="914400"/>
            <a:ext cx="1920240" cy="960120"/>
          </a:xfrm>
          <a:prstGeom prst="rect">
            <a:avLst/>
          </a:prstGeom>
          <a:solidFill>
            <a:srgbClr val="2D4A7A"/>
          </a:solidFill>
          <a:ln/>
        </p:spPr>
      </p:sp>
      <p:sp>
        <p:nvSpPr>
          <p:cNvPr id="13" name="Text 10"/>
          <p:cNvSpPr/>
          <p:nvPr/>
        </p:nvSpPr>
        <p:spPr>
          <a:xfrm>
            <a:off x="4626864" y="9326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C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時間範圍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626864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2010–2022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(12 年)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711696" y="914400"/>
            <a:ext cx="1920240" cy="960120"/>
          </a:xfrm>
          <a:prstGeom prst="rect">
            <a:avLst/>
          </a:prstGeom>
          <a:solidFill>
            <a:srgbClr val="0E8B7D"/>
          </a:solidFill>
          <a:ln/>
        </p:spPr>
      </p:sp>
      <p:sp>
        <p:nvSpPr>
          <p:cNvPr id="16" name="Text 13"/>
          <p:cNvSpPr/>
          <p:nvPr/>
        </p:nvSpPr>
        <p:spPr>
          <a:xfrm>
            <a:off x="6711696" y="9326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C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最終樣本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711696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109 篇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文章與高引用書籍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57200" y="2148840"/>
            <a:ext cx="8229600" cy="2697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" y="2148840"/>
            <a:ext cx="73152" cy="2697480"/>
          </a:xfrm>
          <a:prstGeom prst="rect">
            <a:avLst/>
          </a:prstGeom>
          <a:solidFill>
            <a:srgbClr val="0E8B7D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221284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本文做了什麼？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31520" y="2606040"/>
            <a:ext cx="7772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本研究針對 AI 管理（AI Management）這一跨學科領域進行系統性文獻回顧，採用</a:t>
            </a: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社會技術系統觀點（Socio-Technical Perspective）</a:t>
            </a:r>
            <a:r>
              <a:rPr lang="en-US" sz="13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 2010–2022 年間的 109 篇文獻。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研究發現 AI 管理文獻存在</a:t>
            </a: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四個核心維度</a:t>
            </a:r>
            <a:r>
              <a:rPr lang="en-US" sz="13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：數據維度（Data）、勞動力維度（Labor）、價值維度（Value）、批判維度（Critical）。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作者指出，現有文獻往往在過度樂觀與極端悲觀之間擺盪，且各維度的研究多處於孤立狀態，缺乏跨學科的知識整合。本文提出一個整合性框架，旨在超越迷思與過度渲染，為 AI 管理研究與實務提供更務實的指引。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731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研究背景與動機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91440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188720"/>
            <a:ext cx="502920" cy="502920"/>
          </a:xfrm>
          <a:prstGeom prst="ellipse">
            <a:avLst/>
          </a:prstGeom>
          <a:solidFill>
            <a:srgbClr val="0E8B7D"/>
          </a:solidFill>
          <a:ln>
            <a:solidFill>
              <a:srgbClr val="0E8B7D"/>
            </a:solidFill>
          </a:ln>
        </p:spPr>
      </p:sp>
      <p:sp>
        <p:nvSpPr>
          <p:cNvPr id="8" name="Text 5"/>
          <p:cNvSpPr/>
          <p:nvPr/>
        </p:nvSpPr>
        <p:spPr>
          <a:xfrm>
            <a:off x="64008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25880" y="98755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極端化的論述框架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25880" y="1298448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文獻在科技烏托邦（過度樂觀）與反烏托邦（極端悲觀）之間擺盪，缺乏務實的中間立場。學者呼籲超越天真的焦慮或誇大的崇拜。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(Huysman, 2020; Borges et al., 2021)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24028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" y="2514600"/>
            <a:ext cx="502920" cy="502920"/>
          </a:xfrm>
          <a:prstGeom prst="ellipse">
            <a:avLst/>
          </a:prstGeom>
          <a:solidFill>
            <a:srgbClr val="0E8B7D"/>
          </a:solidFill>
          <a:ln>
            <a:solidFill>
              <a:srgbClr val="0E8B7D"/>
            </a:solidFill>
          </a:ln>
        </p:spPr>
      </p:sp>
      <p:sp>
        <p:nvSpPr>
          <p:cNvPr id="13" name="Text 10"/>
          <p:cNvSpPr/>
          <p:nvPr/>
        </p:nvSpPr>
        <p:spPr>
          <a:xfrm>
            <a:off x="64008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325880" y="231343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文獻分散且缺乏累積性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325880" y="2624328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管理研究分散於資訊系統、策略、經濟學等學科，各領域孤立發展，缺乏累積性知識建構，也缺少全面性的跨領域整合觀點。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(Collins et al., 2021; Fosso Wamba et al., 2021)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356616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0080" y="3840480"/>
            <a:ext cx="502920" cy="502920"/>
          </a:xfrm>
          <a:prstGeom prst="ellipse">
            <a:avLst/>
          </a:prstGeom>
          <a:solidFill>
            <a:srgbClr val="0E8B7D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325880" y="363931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概念模糊與誤解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325880" y="3950208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常被當作概括性術語使用，或與數據混為一談 (Ågerfalk et al., 2022)。Berente et al. (2021) 定義 AI 為「計算進展的演進前沿」(an evolving frontier of computational advances)，須區分數據與 AI 同時認識其交集與共依存性。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731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研究問題與研究目的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solidFill>
            <a:srgbClr val="1B2A4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97280" y="13716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current state of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management literature?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97280" y="19659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C4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管理文獻的現況為何？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27432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本研究旨在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320040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" y="3291840"/>
            <a:ext cx="320040" cy="320040"/>
          </a:xfrm>
          <a:prstGeom prst="ellipse">
            <a:avLst/>
          </a:prstGeom>
          <a:solidFill>
            <a:srgbClr val="0E8B7D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3291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371600" y="33421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記錄文獻演進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733986" y="3250692"/>
            <a:ext cx="59528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系統性記錄 AI 管理文獻的發展軌跡，呈現極端論述的脈絡與更全面的可能性與限制。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379476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0080" y="3886200"/>
            <a:ext cx="320040" cy="320040"/>
          </a:xfrm>
          <a:prstGeom prst="ellipse">
            <a:avLst/>
          </a:prstGeom>
          <a:solidFill>
            <a:srgbClr val="0E8B7D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3886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371600" y="39364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建構整合性框架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2733986" y="3845052"/>
            <a:ext cx="59528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識別跨學科的核心研究主題，以組織化框架視覺化呈現，提升研究者與實務者的理解。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40080" y="4480560"/>
            <a:ext cx="320040" cy="320040"/>
          </a:xfrm>
          <a:prstGeom prst="ellipse">
            <a:avLst/>
          </a:prstGeom>
          <a:solidFill>
            <a:srgbClr val="0E8B7D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4480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371600" y="45308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指引未來研究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2733986" y="4439412"/>
            <a:ext cx="59528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辨識 AI 管理中被忽略的研究領域，為未來研究軌跡提供具體方向。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731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理論框架：社會技術系統觀點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914400"/>
            <a:ext cx="73152" cy="914400"/>
          </a:xfrm>
          <a:prstGeom prst="rect">
            <a:avLst/>
          </a:prstGeom>
          <a:solidFill>
            <a:srgbClr val="0E8B7D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什麼是社會技術系統觀點？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1234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同時考量技術面（演算法、硬體、軟體）與社會面（個人、組織、社會脈絡），認為 AI 系統嵌入在複雜的社會、經濟、法律與倫理情境中，技術與社會相互影響、共同塑造。(Sarker et al., 2019)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為什麼採用此觀點？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468880"/>
            <a:ext cx="2578608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335024" y="2606040"/>
            <a:ext cx="640080" cy="640080"/>
          </a:xfrm>
          <a:prstGeom prst="ellipse">
            <a:avLst/>
          </a:prstGeom>
          <a:solidFill>
            <a:srgbClr val="E8ECF1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2724912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4360" y="3337560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err="1" smtClean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人本</a:t>
            </a:r>
            <a:r>
              <a:rPr lang="zh-TW" alt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身</a:t>
            </a:r>
            <a:r>
              <a:rPr lang="en-US" sz="1300" b="1" dirty="0" err="1" smtClean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因素的重視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94360" y="3675888"/>
            <a:ext cx="230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使用者、開發者、管理者、監管者皆為 AI 生態系統的一部分。理解其需求與偏見，才能使 AI 系統與人類利益對齊。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273552" y="2468880"/>
            <a:ext cx="2578608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151376" y="2606040"/>
            <a:ext cx="640080" cy="640080"/>
          </a:xfrm>
          <a:prstGeom prst="ellipse">
            <a:avLst/>
          </a:prstGeom>
          <a:solidFill>
            <a:srgbClr val="E8ECF1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9392" y="2724912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10712" y="3337560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技術與社會的連結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3410712" y="3675888"/>
            <a:ext cx="230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演算法可能無意中延續社會偏見（如偏頗訓練數據）。僅從技術面分析會忽略這些動態。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089904" y="2468880"/>
            <a:ext cx="2578608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967728" y="2606040"/>
            <a:ext cx="640080" cy="640080"/>
          </a:xfrm>
          <a:prstGeom prst="ellipse">
            <a:avLst/>
          </a:prstGeom>
          <a:solidFill>
            <a:srgbClr val="E8ECF1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5744" y="2724912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227064" y="3337560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的價值塑造角色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227064" y="3675888"/>
            <a:ext cx="230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不僅是中性工具，而是被社會塑造也塑造社會。嵌入其中的價值觀會產生重大社會影響。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731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研究方法：系統性文獻回顧流程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40080" y="868680"/>
            <a:ext cx="7863840" cy="685800"/>
          </a:xfrm>
          <a:prstGeom prst="rect">
            <a:avLst/>
          </a:prstGeom>
          <a:solidFill>
            <a:srgbClr val="2D4A7A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89611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先導搜尋 Pilot Search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118872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WoS、Scopus、Google Scholar 試探性搜尋，確認核心關鍵字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143000" y="1645920"/>
            <a:ext cx="6858000" cy="685800"/>
          </a:xfrm>
          <a:prstGeom prst="rect">
            <a:avLst/>
          </a:prstGeom>
          <a:solidFill>
            <a:srgbClr val="3B6B9A"/>
          </a:solidFill>
          <a:ln/>
        </p:spPr>
      </p:sp>
      <p:sp>
        <p:nvSpPr>
          <p:cNvPr id="10" name="Text 7"/>
          <p:cNvSpPr/>
          <p:nvPr/>
        </p:nvSpPr>
        <p:spPr>
          <a:xfrm>
            <a:off x="1280160" y="167335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規劃階段 Planning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280160" y="196596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搜尋字串：AI / ML / Big Data + ethics / labor / value ｜ 2010–2022 ｜ 英語 ｜ 社會科學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645920" y="2423160"/>
            <a:ext cx="5852160" cy="685800"/>
          </a:xfrm>
          <a:prstGeom prst="rect">
            <a:avLst/>
          </a:prstGeom>
          <a:solidFill>
            <a:srgbClr val="0E8B7D"/>
          </a:solidFill>
          <a:ln/>
        </p:spPr>
      </p:sp>
      <p:sp>
        <p:nvSpPr>
          <p:cNvPr id="13" name="Text 10"/>
          <p:cNvSpPr/>
          <p:nvPr/>
        </p:nvSpPr>
        <p:spPr>
          <a:xfrm>
            <a:off x="1783080" y="245059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選擇階段 Selection　→　初步檢索 13,264 篇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783080" y="274320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排除不相關主題與重複文獻（純技術面、非管理領域）→ 保留 2,901 篇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148840" y="3200400"/>
            <a:ext cx="4846320" cy="685800"/>
          </a:xfrm>
          <a:prstGeom prst="rect">
            <a:avLst/>
          </a:prstGeom>
          <a:solidFill>
            <a:srgbClr val="3BA89F"/>
          </a:solidFill>
          <a:ln/>
        </p:spPr>
      </p:sp>
      <p:sp>
        <p:nvSpPr>
          <p:cNvPr id="16" name="Text 13"/>
          <p:cNvSpPr/>
          <p:nvPr/>
        </p:nvSpPr>
        <p:spPr>
          <a:xfrm>
            <a:off x="2286000" y="32278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擷取階段 Extraction　→　套用社會技術觀點篩選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286000" y="35204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須聚焦 AI 策略面 ＋ 排除僅特定產業　→ 保留 465 篇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651760" y="3977640"/>
            <a:ext cx="3840480" cy="6858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9" name="Text 16"/>
          <p:cNvSpPr/>
          <p:nvPr/>
        </p:nvSpPr>
        <p:spPr>
          <a:xfrm>
            <a:off x="2788920" y="40050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執行階段 Execution　→　全文閱讀最終篩選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2788920" y="42976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四階段疊代分析（開放式編碼→獨立編碼→類別分組→概念整合）→ 最終 109 篇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731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研究發現：AI 管理四大核心維度框架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3246120" y="1691640"/>
            <a:ext cx="2651760" cy="1828800"/>
          </a:xfrm>
          <a:prstGeom prst="ellipse">
            <a:avLst/>
          </a:prstGeom>
          <a:solidFill>
            <a:srgbClr val="1B2A4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246120" y="1920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管理框架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246120" y="2331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C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社會技術系統觀點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EC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Socio-Technical Lens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743200" y="2011680"/>
            <a:ext cx="9144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5852160" y="2011680"/>
            <a:ext cx="9144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2743200" y="3200400"/>
            <a:ext cx="9144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5852160" y="3200400"/>
            <a:ext cx="9144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457200" y="914400"/>
            <a:ext cx="2286000" cy="1783080"/>
          </a:xfrm>
          <a:prstGeom prst="rect">
            <a:avLst/>
          </a:prstGeom>
          <a:solidFill>
            <a:srgbClr val="2D4A7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005840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96112" y="98755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數據維度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48640" y="12984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Dimension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48640" y="15544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・大數據矛盾性質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・戰略資產與燃料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・治理疑慮與隱私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・數據貨幣化挑戰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400800" y="914400"/>
            <a:ext cx="2286000" cy="1783080"/>
          </a:xfrm>
          <a:prstGeom prst="rect">
            <a:avLst/>
          </a:prstGeom>
          <a:solidFill>
            <a:srgbClr val="0E8B7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005840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39712" y="98755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價值維度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492240" y="12984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Dimension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492240" y="15544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・業務流程優化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・創新與競爭優勢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・價值破壞風險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・組織準備度限制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57200" y="2880360"/>
            <a:ext cx="2286000" cy="1783080"/>
          </a:xfrm>
          <a:prstGeom prst="rect">
            <a:avLst/>
          </a:prstGeom>
          <a:solidFill>
            <a:srgbClr val="0E8B7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2971800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96112" y="295351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勞動力維度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548640" y="32644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Dimension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48640" y="352044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・工作取代 vs. 創造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・人機協作增強智能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・演算法管理與監控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・角色與身份轉變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400800" y="2880360"/>
            <a:ext cx="2286000" cy="1783080"/>
          </a:xfrm>
          <a:prstGeom prst="rect">
            <a:avLst/>
          </a:prstGeom>
          <a:solidFill>
            <a:srgbClr val="2D4A7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2971800"/>
            <a:ext cx="292608" cy="29260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839712" y="295351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批判維度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6492240" y="32644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Dimension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6492240" y="352044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・生態與環境影響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・社會政治權力關係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・演算法公正與偏見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・倫理框架與監管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731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維度一：數據維度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914400"/>
            <a:ext cx="397764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914400"/>
            <a:ext cx="3977640" cy="411480"/>
          </a:xfrm>
          <a:prstGeom prst="rect">
            <a:avLst/>
          </a:prstGeom>
          <a:solidFill>
            <a:srgbClr val="0E8B7D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91440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機會面：大數據作為戰略資產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50876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144475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數據被描述為「AI 的燃料與石油」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(Crawford, 2021)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286000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8680" y="222199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驅動決策優化、績效提升、創新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管理與業務模式革新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(Grover et al., 2018; Mikalef et al., 2020)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063240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68680" y="299923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具備可攜性、非競爭性、高流動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性等獨特屬性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(Günther et al., 2017; Wixom et al., 2021)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840480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68680" y="377647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數據貨幣化：從數據中擷取、創造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並捕獲價值的過程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4709160" y="914400"/>
            <a:ext cx="397764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4709160" y="914400"/>
            <a:ext cx="3977640" cy="41148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9" name="Text 12"/>
          <p:cNvSpPr/>
          <p:nvPr/>
        </p:nvSpPr>
        <p:spPr>
          <a:xfrm>
            <a:off x="4709160" y="91440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挑戰面：治理疑慮與隱私風險</a:t>
            </a:r>
            <a:endParaRPr lang="en-US" sz="13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508760"/>
            <a:ext cx="201168" cy="20116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120640" y="144475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過度依賴大數據可能導致策略決策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失誤 (Aversa et al., 2018)</a:t>
            </a:r>
            <a:endParaRPr lang="en-US" sz="12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2286000"/>
            <a:ext cx="201168" cy="20116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120640" y="222199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數據貨幣化比想像中更複雜，少數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組織能真正擷取價值 (Mikalef et al., 2019)</a:t>
            </a:r>
            <a:endParaRPr lang="en-US" sz="12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063240"/>
            <a:ext cx="201168" cy="20116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120640" y="299923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推斷性分析侵害隱私與自主權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(Wachter &amp; Mittelstadt, 2019)</a:t>
            </a:r>
            <a:endParaRPr lang="en-US" sz="12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840480"/>
            <a:ext cx="201168" cy="201168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120640" y="377647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現行資料保護法未能有效保護數據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主體免受推斷分析的新風險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731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維度二：價值維度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914400"/>
            <a:ext cx="397764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914400"/>
            <a:ext cx="3977640" cy="411480"/>
          </a:xfrm>
          <a:prstGeom prst="rect">
            <a:avLst/>
          </a:prstGeom>
          <a:solidFill>
            <a:srgbClr val="0E8B7D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91440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價值創造：AI 的正面潛力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50876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144475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業務流程優化與營運彈性提升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(Coombs et al., 2020)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286000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8680" y="222199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創新管理：克服資訊處理障礙、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突破局部搜尋慣例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(Haefner et al., 2021)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063240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68680" y="299923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降低成本、縮短決策時間、增強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長期競爭力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(Von Krogh, 2018; Hagiu &amp; Wright, 2020)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840480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68680" y="377647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為客戶創造新價值、提升營收潛力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(Davenport et al., 2020)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4709160" y="914400"/>
            <a:ext cx="397764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4709160" y="914400"/>
            <a:ext cx="3977640" cy="41148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9" name="Text 12"/>
          <p:cNvSpPr/>
          <p:nvPr/>
        </p:nvSpPr>
        <p:spPr>
          <a:xfrm>
            <a:off x="4709160" y="91440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價值破壞：超越過度樂觀的警示</a:t>
            </a:r>
            <a:endParaRPr lang="en-US" sz="13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508760"/>
            <a:ext cx="201168" cy="20116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120640" y="144475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許多組織未能從 AI 投資中產生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價值；行為變革阻力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(Frick et al., 2021)</a:t>
            </a:r>
            <a:endParaRPr lang="en-US" sz="12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2286000"/>
            <a:ext cx="201168" cy="20116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120640" y="222199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 AI 準備度不足是重大挑戰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(Holmström, 2022)</a:t>
            </a:r>
            <a:endParaRPr lang="en-US" sz="12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063240"/>
            <a:ext cx="201168" cy="20116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120640" y="299923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澳洲 Robodebt 自動化債務回收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系統造成嚴重社會損害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(Rinta-Kahila et al., 2022)</a:t>
            </a:r>
            <a:endParaRPr lang="en-US" sz="12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840480"/>
            <a:ext cx="201168" cy="201168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120640" y="377647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「更多數據→ML 分析→競爭優勢」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因果鏈並不必然成立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(Hagiu &amp; Wright, 2020)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731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維度三：勞動力維度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914400"/>
            <a:ext cx="397764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914400"/>
            <a:ext cx="3977640" cy="411480"/>
          </a:xfrm>
          <a:prstGeom prst="rect">
            <a:avLst/>
          </a:prstGeom>
          <a:solidFill>
            <a:srgbClr val="0E8B7D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91440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人機協作與新興角色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50876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144475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增強智能：AI 支援、放大人類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能力而非取代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(Jarrahi et al., 2020)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286000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8680" y="222199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情感經濟：感覺型任務仍為人類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核心競爭優勢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(Huang et al., 2019)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063240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68680" y="299923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自動化與增強是相互依賴的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「矛盾張力」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(Raisch &amp; Krakowski, 2021)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840480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68680" y="377647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演算法經紀人、訓練者、解釋者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等新興角色出現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(Kellogg et al., 2020; Wilson et al., 2017)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4709160" y="914400"/>
            <a:ext cx="397764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4709160" y="914400"/>
            <a:ext cx="3977640" cy="41148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9" name="Text 12"/>
          <p:cNvSpPr/>
          <p:nvPr/>
        </p:nvSpPr>
        <p:spPr>
          <a:xfrm>
            <a:off x="4709160" y="91440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工作取代與演算法控制暗面</a:t>
            </a:r>
            <a:endParaRPr lang="en-US" sz="13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508760"/>
            <a:ext cx="201168" cy="20116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120640" y="144475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「技術性失業」恐慌與工作取代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論述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(Frey &amp; Osborne, 2017)</a:t>
            </a:r>
            <a:endParaRPr lang="en-US" sz="12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2286000"/>
            <a:ext cx="201168" cy="20116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120640" y="222199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對技能的侵蝕能力在技術發展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史上前所未有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(Faraj et al., 2018; Kaplan, 2016)</a:t>
            </a:r>
            <a:endParaRPr lang="en-US" sz="12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063240"/>
            <a:ext cx="201168" cy="20116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120640" y="299923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演算法監控導致過度工作、睡眠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剝奪、社會孤立與科技壓力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(Newlands, 2021; Cram et al., 2022)</a:t>
            </a:r>
            <a:endParaRPr lang="en-US" sz="12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840480"/>
            <a:ext cx="201168" cy="201168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120640" y="377647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演算法領導改變員工專業身份認同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與組織控制方式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(Strich et al., 2021; Jarrahi et al., 2021)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731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維度四：批判維度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914400"/>
            <a:ext cx="397764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914400"/>
            <a:ext cx="3977640" cy="411480"/>
          </a:xfrm>
          <a:prstGeom prst="rect">
            <a:avLst/>
          </a:prstGeom>
          <a:solidFill>
            <a:srgbClr val="0E8B7D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91440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正面潛力：永續與公正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50876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144475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有潛力促進平等、包容與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減緩環境危機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(Vinuesa et al., 2020; Di Vaio et al., 2020)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286000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8680" y="222199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「AI 促進永續」：用 AI 解決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氣候、社經挑戰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(van Wynsberghe, 2021)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063240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68680" y="299923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演算法公正框架可揭示並解決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自動化決策中的不公正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(Marjanovic et al., 2022)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840480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68680" y="377647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透明性與可預測性有助於提升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自主性的社會接受度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(Jobin et al., 2019; Fjeld et al., 2020)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4709160" y="914400"/>
            <a:ext cx="397764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4709160" y="914400"/>
            <a:ext cx="3977640" cy="41148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9" name="Text 12"/>
          <p:cNvSpPr/>
          <p:nvPr/>
        </p:nvSpPr>
        <p:spPr>
          <a:xfrm>
            <a:off x="4709160" y="91440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批判性關切：偏見、監控與倫理</a:t>
            </a:r>
            <a:endParaRPr lang="en-US" sz="13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508760"/>
            <a:ext cx="201168" cy="20116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120640" y="144475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「AI 本身的永續性」被忽略：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訓練模型的碳足跡與環境成本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(van Wynsberghe, 2021; Crawford, 2021)</a:t>
            </a:r>
            <a:endParaRPr lang="en-US" sz="12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2286000"/>
            <a:ext cx="201168" cy="20116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120640" y="222199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監控資本主義將人類經驗轉化為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行為數據，預測並操縱行為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(Zuboff, 2019; Sadowski, 2019)</a:t>
            </a:r>
            <a:endParaRPr lang="en-US" sz="12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063240"/>
            <a:ext cx="201168" cy="20116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120640" y="299923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演算法污染導致累積劣勢，AADM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成為「數位貧困管理工具」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(Eubanks, 2018; Marjanovic et al., 2021)</a:t>
            </a:r>
            <a:endParaRPr lang="en-US" sz="12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840480"/>
            <a:ext cx="201168" cy="201168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120640" y="377647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缺乏通用實務監管框架；倫理準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則被批評為理論多於實踐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(Mittelstadt, 2019; Hagendorff, 2020)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731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四大維度對照摘要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19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3706111"/>
              </p:ext>
            </p:extLst>
          </p:nvPr>
        </p:nvGraphicFramePr>
        <p:xfrm>
          <a:off x="457200" y="1005840"/>
          <a:ext cx="8229601" cy="3200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9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6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6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維度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核心議題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 err="1" smtClean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樂觀面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 err="1" smtClean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悲觀面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數據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大數據的管理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機會與風險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 err="1" smtClean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戰略資產</a:t>
                      </a:r>
                      <a:r>
                        <a:rPr lang="zh-TW" altLang="en-US" sz="1200" dirty="0" smtClean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</a:t>
                      </a:r>
                      <a:r>
                        <a:rPr lang="en-US" sz="1200" dirty="0" err="1" smtClean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決策優化</a:t>
                      </a:r>
                      <a:r>
                        <a:rPr lang="en-US" sz="1200" dirty="0" err="1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、貨幣化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 err="1" smtClean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隱私侵害</a:t>
                      </a:r>
                      <a:r>
                        <a:rPr lang="zh-TW" altLang="en-US" sz="1200" dirty="0" smtClean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</a:t>
                      </a:r>
                      <a:r>
                        <a:rPr lang="en-US" sz="1200" dirty="0" err="1" smtClean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數據偏見</a:t>
                      </a:r>
                      <a:r>
                        <a:rPr lang="en-US" sz="1200" dirty="0" err="1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、治理失靈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價值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AI 的組織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價值轉化能力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 err="1" smtClean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流程優化</a:t>
                      </a:r>
                      <a:r>
                        <a:rPr lang="zh-TW" altLang="en-US" sz="1200" dirty="0" smtClean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</a:t>
                      </a:r>
                      <a:r>
                        <a:rPr lang="en-US" sz="1200" dirty="0" err="1" smtClean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創新驅動</a:t>
                      </a:r>
                      <a:r>
                        <a:rPr lang="en-US" sz="1200" dirty="0" err="1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、競爭優勢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 err="1" smtClean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投資失敗</a:t>
                      </a:r>
                      <a:r>
                        <a:rPr lang="zh-TW" altLang="en-US" sz="1200" dirty="0" smtClean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</a:t>
                      </a:r>
                      <a:r>
                        <a:rPr lang="en-US" sz="1200" dirty="0" err="1" smtClean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準備度不足</a:t>
                      </a:r>
                      <a:r>
                        <a:rPr lang="en-US" sz="1200" dirty="0" err="1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、社會破壞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勞動力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AI 對工作與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員工的衝擊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 err="1" smtClean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增強智能</a:t>
                      </a:r>
                      <a:r>
                        <a:rPr lang="zh-TW" altLang="en-US" sz="1200" dirty="0" smtClean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</a:t>
                      </a:r>
                      <a:r>
                        <a:rPr lang="en-US" sz="1200" dirty="0" err="1" smtClean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人機協作</a:t>
                      </a:r>
                      <a:r>
                        <a:rPr lang="en-US" sz="1200" dirty="0" err="1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、新角色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 err="1" smtClean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技術性失業</a:t>
                      </a:r>
                      <a:r>
                        <a:rPr lang="zh-TW" altLang="en-US" sz="1200" dirty="0" smtClean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</a:t>
                      </a:r>
                      <a:r>
                        <a:rPr lang="en-US" sz="1200" dirty="0" err="1" smtClean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技能侵蝕</a:t>
                      </a:r>
                      <a:r>
                        <a:rPr lang="en-US" sz="1200" dirty="0" err="1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、科技壓力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批判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倫理、社會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與環境影響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 err="1" smtClean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永續發展</a:t>
                      </a:r>
                      <a:r>
                        <a:rPr lang="zh-TW" altLang="en-US" sz="1200" dirty="0" smtClean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</a:t>
                      </a:r>
                      <a:r>
                        <a:rPr lang="en-US" sz="1200" dirty="0" err="1" smtClean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公正框架</a:t>
                      </a:r>
                      <a:r>
                        <a:rPr lang="en-US" sz="1200" dirty="0" err="1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、反歧視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 err="1" smtClean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監控資本主義</a:t>
                      </a:r>
                      <a:r>
                        <a:rPr lang="zh-TW" altLang="en-US" sz="1200" dirty="0" smtClean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</a:t>
                      </a:r>
                      <a:r>
                        <a:rPr lang="en-US" sz="1200" dirty="0" err="1" smtClean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演算法偏見</a:t>
                      </a:r>
                      <a:r>
                        <a:rPr lang="en-US" sz="1200" dirty="0" err="1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、碳足跡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731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討論與理論貢獻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91440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914400"/>
            <a:ext cx="73152" cy="960120"/>
          </a:xfrm>
          <a:prstGeom prst="rect">
            <a:avLst/>
          </a:prstGeom>
          <a:solidFill>
            <a:srgbClr val="0E8B7D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9601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8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貢獻 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508760" y="93268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文獻演進的系統記錄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1280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記錄 AI 管理文獻從 2010 至 2022 年的演進，揭示極端論述模式，呈現更全面的可能性與限制。指出既有文獻多在孤立子領域中各自發展。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05740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057400"/>
            <a:ext cx="73152" cy="960120"/>
          </a:xfrm>
          <a:prstGeom prst="rect">
            <a:avLst/>
          </a:prstGeom>
          <a:solidFill>
            <a:srgbClr val="0E8B7D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1031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8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貢獻 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508760" y="207568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四維整合框架的建構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31520" y="2423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將分散研究整合為四核心維度（數據、勞動力、價值、批判），以組織化框架呈現其疊代與相互依存關係。強調須同時考量工具性與人本性影響。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320040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7200" y="3200400"/>
            <a:ext cx="73152" cy="960120"/>
          </a:xfrm>
          <a:prstGeom prst="rect">
            <a:avLst/>
          </a:prstGeom>
          <a:solidFill>
            <a:srgbClr val="0E8B7D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" y="32461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8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貢獻 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508760" y="321868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未來研究方向的指引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31520" y="3566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辨識出 AI 管理文獻中多個被忽略的研究領域，為未來研究軌跡提供具有潛力的方向（詳見第 16 頁）。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4226300"/>
            <a:ext cx="8229600" cy="640080"/>
          </a:xfrm>
          <a:prstGeom prst="rect">
            <a:avLst/>
          </a:prstGeom>
          <a:solidFill>
            <a:srgbClr val="E8ECF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40080" y="42263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實務意涵：管理者與政策制定者須橋接四個維度來制定 AI 管理策略，設定反映機會與風險的務實期望，並考量數據的社會嵌入性。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731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亞太地區意涵與研究限制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914400"/>
            <a:ext cx="82296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914400"/>
            <a:ext cx="73152" cy="1691640"/>
          </a:xfrm>
          <a:prstGeom prst="rect">
            <a:avLst/>
          </a:prstGeom>
          <a:solidFill>
            <a:srgbClr val="0E8B7D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9326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亞太地區研究意涵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1261872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需要在亞洲國家具體脈絡下研究負責任 AI 框架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須探討個資保護、治理與監管框架、人機共生的標準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教育勞動力與 AI 協作而非恐懼 AI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偏見如何在亞洲文化脈絡中形成與被放大，值得深入探究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880360"/>
            <a:ext cx="82296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880360"/>
            <a:ext cx="73152" cy="169164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28986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研究限制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" y="3227832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搜尋字串與納入/排除標準的限制：排除「digital transformation」可能遺漏部分文獻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出版偏誤：較舊高引用文獻可能被偏重；排除灰色文獻、非 IS 期刊與研討會論文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社會技術觀點的取捨：排除了純技術面或僅探討社會參數的研究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部分文獻若不在 WoS、Scopus 或 Google Scholar 資料庫中則未被納入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731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未來研究方向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914400"/>
            <a:ext cx="73152" cy="822960"/>
          </a:xfrm>
          <a:prstGeom prst="rect">
            <a:avLst/>
          </a:prstGeom>
          <a:solidFill>
            <a:srgbClr val="0E8B7D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960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生成式 AI（GAI）管理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126187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探討 GAI 對數據內容管理的衝擊、非預期後果，以及如何在不放大不公正的前提下從 GAI 擷取價值。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1920240"/>
            <a:ext cx="73152" cy="822960"/>
          </a:xfrm>
          <a:prstGeom prst="rect">
            <a:avLst/>
          </a:prstGeom>
          <a:solidFill>
            <a:srgbClr val="2D4A7A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1965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傳統場域中的演算法管理與領導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20" y="226771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演算法管理研究多聚焦平台經濟零工，需擴展至傳統組織場域，探討差異化的挑戰與機會。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2926080"/>
            <a:ext cx="73152" cy="822960"/>
          </a:xfrm>
          <a:prstGeom prst="rect">
            <a:avLst/>
          </a:prstGeom>
          <a:solidFill>
            <a:srgbClr val="0E8B7D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2971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治理機制與管理的關係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31520" y="327355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治理文獻仍處初期。AI 管理是「決定的制定與執行」，AI 治理是「由誰來決定」，須揭示其社會技術基石。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" y="3931920"/>
            <a:ext cx="73152" cy="822960"/>
          </a:xfrm>
          <a:prstGeom prst="rect">
            <a:avLst/>
          </a:prstGeom>
          <a:solidFill>
            <a:srgbClr val="2D4A7A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39776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負責任 AI 的跨學科實踐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31520" y="42793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跨學科探索演算法經紀人實踐負責任 AI 所需的教育、領導特質與組織技能，深化倫理教育。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16152"/>
            <a:ext cx="347472" cy="347472"/>
          </a:xfrm>
          <a:prstGeom prst="ellipse">
            <a:avLst/>
          </a:prstGeom>
          <a:solidFill>
            <a:srgbClr val="0E8B7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161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143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13,264 篇文獻中篩選出 109 篇，涵蓋 2010–2022 年間 AI 管理研究，提供結構化的整合觀點。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347472" cy="347472"/>
          </a:xfrm>
          <a:prstGeom prst="ellipse">
            <a:avLst/>
          </a:prstGeom>
          <a:solidFill>
            <a:srgbClr val="0E8B7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89280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識別出四個核心維度（數據、勞動力、價值、批判），指出各維度雖相互關聯，但在既有文獻中仍多被孤立探討。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715768"/>
            <a:ext cx="347472" cy="347472"/>
          </a:xfrm>
          <a:prstGeom prst="ellipse">
            <a:avLst/>
          </a:prstGeom>
          <a:solidFill>
            <a:srgbClr val="0E8B7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157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64261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社會技術系統觀點提供了超越極端論述的分析工具，有助於更務實地理解 AI 管理。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465576"/>
            <a:ext cx="347472" cy="347472"/>
          </a:xfrm>
          <a:prstGeom prst="ellipse">
            <a:avLst/>
          </a:prstGeom>
          <a:solidFill>
            <a:srgbClr val="0E8B7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655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339242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研究者、管理者與政策制定者應同等重視 AI 的工具性與人本性影響，在追求效率的同時正視倫理風險。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215384"/>
            <a:ext cx="347472" cy="347472"/>
          </a:xfrm>
          <a:prstGeom prst="ellipse">
            <a:avLst/>
          </a:prstGeom>
          <a:solidFill>
            <a:srgbClr val="0E8B7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2153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41422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社會技術觀點在 AI 研究中的應用仍非常有限，本研究為 IS 領域貢獻了文獻演進記錄、整合框架與未來研究軌跡。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731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 err="1" smtClean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觀點與反思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82296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234440"/>
            <a:ext cx="73152" cy="804672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2801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四維框架的實用性與啟發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155448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四維框架為 AI 管理研究提供了清晰的入門地圖，特別適合定位自身研究在整體脈絡中的位置。然而在實務場景中，各維度的動態交互可能比框架呈現的更為複雜。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167128"/>
            <a:ext cx="82296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167128"/>
            <a:ext cx="73152" cy="804672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2128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時效性與生成式 AI 研究缺口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248716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本文搜尋截止於 2022 年 12 </a:t>
            </a:r>
            <a:r>
              <a:rPr lang="en-US" sz="1200" dirty="0" err="1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月，ChatGPT</a:t>
            </a: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sz="1200" dirty="0" err="1" smtClean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發布不久</a:t>
            </a:r>
            <a:r>
              <a:rPr lang="en-US" sz="1200" dirty="0" err="1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，相關文獻尚未被納入。GAI</a:t>
            </a: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帶來的倫理爭議（深偽、智財權等）已成為當前最迫切的課題。作者提到的 GAI 議題格外具前瞻性。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099816"/>
            <a:ext cx="82296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" y="3099816"/>
            <a:ext cx="73152" cy="804672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31455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社會技術觀點的取捨與啟示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31520" y="3419856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此觀點使研究能跳脫純技術或純社會的單一視角，但也排除了大量相關研究，在全面性與焦點之間有其取捨。核心啟示：AI 問題從來不只是技術問題。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4032504"/>
            <a:ext cx="82296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57200" y="4032504"/>
            <a:ext cx="73152" cy="804672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407822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對台灣 AI 研究與政策的啟示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31520" y="4352544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台灣在 AI 治理立法（如個資法修訂）、產業 AI 導入策略、高等教育中 AI 倫理課程設計上，皆可從四維框架獲得系統性參考依據。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8B7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4630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報告完畢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200400" y="2606040"/>
            <a:ext cx="2743200" cy="36576"/>
          </a:xfrm>
          <a:prstGeom prst="rect">
            <a:avLst/>
          </a:prstGeom>
          <a:solidFill>
            <a:srgbClr val="0E8B7D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88036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2EC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謝謝大家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1352</Words>
  <Application>Microsoft Office PowerPoint</Application>
  <PresentationFormat>如螢幕大小 (16:9)</PresentationFormat>
  <Paragraphs>330</Paragraphs>
  <Slides>19</Slides>
  <Notes>19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4" baseType="lpstr">
      <vt:lpstr>Microsoft JhengHei</vt:lpstr>
      <vt:lpstr>Arial</vt:lpstr>
      <vt:lpstr>Calibri</vt:lpstr>
      <vt:lpstr>Georgia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Management Beyond Myth and Hype</dc:title>
  <dc:subject>PptxGenJS Presentation</dc:subject>
  <dc:creator>鍾昀臻</dc:creator>
  <cp:lastModifiedBy>yunzhenz</cp:lastModifiedBy>
  <cp:revision>20</cp:revision>
  <dcterms:created xsi:type="dcterms:W3CDTF">2026-04-10T04:47:05Z</dcterms:created>
  <dcterms:modified xsi:type="dcterms:W3CDTF">2026-04-10T08:06:51Z</dcterms:modified>
</cp:coreProperties>
</file>