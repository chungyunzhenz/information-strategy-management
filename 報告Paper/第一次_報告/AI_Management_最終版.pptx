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548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論文導讀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Management Beyond Myth and Hype: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Systematic Review and Synthesis of the Literature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人工智慧管理：超越迷思與過度渲染的系統性文獻回顧與統整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19" y="2880359"/>
            <a:ext cx="7597317" cy="45719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Koukouvinou, P., &amp; Holmström, J. (2024)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Asia Journal of the Association for Information Systems, 16(2), 1-27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導讀者：鍾昀臻　｜　</a:t>
            </a:r>
            <a:r>
              <a:rPr lang="en-US" sz="1300" dirty="0" err="1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指導教授：張碩毅</a:t>
            </a:r>
            <a:r>
              <a:rPr lang="en-US" sz="1300" dirty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300" dirty="0" err="1" smtClean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報告大綱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5156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960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論文摘要總覽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0" y="960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527048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61848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1527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研究背景、動機與研究問題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315200" y="15270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p.4–5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2093976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1854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0939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理論框架與研究方法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315200" y="20939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p.6–7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57200" y="2660904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75234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26609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研究發現：四大核心維度框架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315200" y="26609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p.8–13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57200" y="3227832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31927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43000" y="32278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討論、理論貢獻與實務意涵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7315200" y="3227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p.14–15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88620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43000" y="3794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未來研究方向與結論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731520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p.16–17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4361688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453128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43000" y="43616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觀點與反思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7315200" y="4361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p.18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論文摘要總覽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1920240" cy="96012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期刊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PAJAIS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(AIS 期刊)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42032" y="914400"/>
            <a:ext cx="1920240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0" name="Text 7"/>
          <p:cNvSpPr/>
          <p:nvPr/>
        </p:nvSpPr>
        <p:spPr>
          <a:xfrm>
            <a:off x="2542032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42032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系統性文獻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 (SLR)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26864" y="914400"/>
            <a:ext cx="1920240" cy="96012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3" name="Text 10"/>
          <p:cNvSpPr/>
          <p:nvPr/>
        </p:nvSpPr>
        <p:spPr>
          <a:xfrm>
            <a:off x="4626864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時間範圍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26864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2010–2022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(12 年)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11696" y="914400"/>
            <a:ext cx="1920240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6" name="Text 13"/>
          <p:cNvSpPr/>
          <p:nvPr/>
        </p:nvSpPr>
        <p:spPr>
          <a:xfrm>
            <a:off x="6711696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最終樣本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11696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109 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文章與高引用書籍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2148840"/>
            <a:ext cx="82296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148840"/>
            <a:ext cx="73152" cy="269748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22128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本文做了什麼？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31520" y="26060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本研究針對 AI 管理（AI Management）這一跨學科領域進行系統性文獻回顧，採用</a:t>
            </a: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社會技術系統觀點（Socio-Technical Perspective）</a:t>
            </a: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 2010–2022 年間的 109 篇文獻。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 AI 管理文獻存在</a:t>
            </a: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四個核心維度</a:t>
            </a: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：數據維度（Data）、勞動力維度（Labor）、價值維度（Value）、批判維度（Critical）。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作者指出，現有文獻往往在過度樂觀與極端悲觀之間擺盪，且各維度的研究多處於孤立狀態，缺乏跨學科的知識整合。本文提出一個整合性框架，旨在超越迷思與過度渲染，為 AI 管理研究與實務提供更務實的指引。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研究背景與動機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9875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極端化的論述框架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29844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文獻在科技烏托邦（過度樂觀）與反烏托邦（極端悲觀）之間擺盪，缺乏務實的中間立場。學者呼籲超越天真的焦慮或誇大的崇拜。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(Huysman, 2020; Borges et al., 2021)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2D4A7A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25880" y="23134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文獻分散且缺乏累積性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25880" y="262432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管理研究分散於資訊系統、策略、經濟學等學科，各領域孤立發展，缺乏累積性知識建構，也缺少全面性的跨領域整合觀點。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(Collins et al., 2021; Fosso Wamba et al., 2021)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25880" y="36393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概念模糊與誤解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5020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常被當作概括性術語使用，或與數據混為一談 (Ågerfalk et al., 2022)。Berente et al. (2021) 定義 AI 為「計算進展的演進前沿」(an evolving frontier of computational advances)，須區分數據與 AI 同時認識其交集與共依存性。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研究問題與研究目的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92440" y="4843981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13716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current state of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management literature?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1965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管理文獻的現況為何？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本研究旨在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71600" y="3319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記錄文獻演進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834640" y="3227832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系統性記錄 AI 管理文獻的發展軌跡，呈現極端論述的脈絡與更全面的可能性與限制。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71600" y="3913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建構整合性框架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834640" y="382219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識別跨學科的核心研究主題，以組織化框架視覺化呈現，提升研究者與實務者的理解。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" y="4480560"/>
            <a:ext cx="320040" cy="320040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371600" y="4507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指引未來研究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834640" y="44165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 AI 管理中被忽略的研究領域，為未來研究軌跡提供具體方向。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理論框架：社會技術系統觀點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91440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什麼是社會技術系統觀點？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234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同時考量技術面（演算法、硬體、軟體）與社會面（個人、組織、社會脈絡），認為 AI 系統嵌入在複雜的社會、經濟、法律與倫理情境中，技術與社會相互影響、共同塑造。(Sarker et al., 2019)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為什麼採用此觀點？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257860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35024" y="2606040"/>
            <a:ext cx="640080" cy="640080"/>
          </a:xfrm>
          <a:prstGeom prst="ellipse">
            <a:avLst/>
          </a:prstGeom>
          <a:solidFill>
            <a:srgbClr val="E8ECF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72491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3337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人本因素的重視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4360" y="3675888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使用者、開發者、管理者、監管者皆為 AI 生態系統的一部分。理解其需求與偏見，才能使 AI 系統與人類利益對齊。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73552" y="2468880"/>
            <a:ext cx="257860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51376" y="2606040"/>
            <a:ext cx="640080" cy="640080"/>
          </a:xfrm>
          <a:prstGeom prst="ellipse">
            <a:avLst/>
          </a:prstGeom>
          <a:solidFill>
            <a:srgbClr val="E8ECF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27249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10712" y="3337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技術與社會的連結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410712" y="3675888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演算法可能無意中延續社會偏見（如偏頗訓練數據）。僅從技術面分析會忽略這些動態。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089904" y="2468880"/>
            <a:ext cx="257860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67728" y="2606040"/>
            <a:ext cx="640080" cy="640080"/>
          </a:xfrm>
          <a:prstGeom prst="ellipse">
            <a:avLst/>
          </a:prstGeom>
          <a:solidFill>
            <a:srgbClr val="E8ECF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272491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27064" y="333756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的價值塑造角色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227064" y="3675888"/>
            <a:ext cx="230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不僅是中性工具，而是被社會塑造也塑造社會。嵌入其中的價值觀會產生重大社會影響。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研究方法：系統性文獻回顧流程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7863840" cy="68580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8961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先導搜尋 Pilot 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1887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WoS、Scopus、Google Scholar 試探性搜尋，確認核心關鍵字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43000" y="1645920"/>
            <a:ext cx="6858000" cy="685800"/>
          </a:xfrm>
          <a:prstGeom prst="rect">
            <a:avLst/>
          </a:prstGeom>
          <a:solidFill>
            <a:srgbClr val="3B6B9A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16733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規劃階段 Planning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9659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搜尋字串：AI / ML / Big Data + ethics / labor / value ｜ 2010–2022 ｜ 英語 ｜ 社會科學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45920" y="2423160"/>
            <a:ext cx="5852160" cy="68580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24505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選擇階段 Selection　→　初步檢索 13,264 篇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83080" y="27432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排除不相關主題與重複文獻（純技術面、非管理領域）→ 保留 2,901 篇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148840" y="3200400"/>
            <a:ext cx="4846320" cy="685800"/>
          </a:xfrm>
          <a:prstGeom prst="rect">
            <a:avLst/>
          </a:prstGeom>
          <a:solidFill>
            <a:srgbClr val="3BA89F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0" y="3227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擷取階段 Extraction　→　套用社會技術觀點篩選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28600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須聚焦 AI 策略面 ＋ 排除僅特定產業　→ 保留 465 篇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51760" y="3977640"/>
            <a:ext cx="3840480" cy="6858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6"/>
          <p:cNvSpPr/>
          <p:nvPr/>
        </p:nvSpPr>
        <p:spPr>
          <a:xfrm>
            <a:off x="2788920" y="4005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執行階段 Execution　→　全文閱讀最終篩選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788920" y="4297680"/>
            <a:ext cx="36402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四階段疊代分析（</a:t>
            </a:r>
            <a:r>
              <a:rPr lang="en-US" sz="1100" dirty="0" err="1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開放式編碼→獨立編碼→類別分組→概念整合</a:t>
            </a: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）→ 最終 109 篇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研究發現：AI 管理四大核心維度框架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46120" y="1691640"/>
            <a:ext cx="2651760" cy="1828800"/>
          </a:xfrm>
          <a:prstGeom prst="ellipse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4612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管理框架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46120" y="2331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社會技術系統觀點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Socio-Technical Lens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0" y="201168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852160" y="201168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743200" y="320040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852160" y="320040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57200" y="914400"/>
            <a:ext cx="2286000" cy="1783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058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6112" y="987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數據維度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Dimension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1554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・大數據矛盾性質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・戰略資產與燃料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・治理疑慮與隱私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・數據貨幣化挑戰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0" y="914400"/>
            <a:ext cx="2286000" cy="1783080"/>
          </a:xfrm>
          <a:prstGeom prst="rect">
            <a:avLst/>
          </a:prstGeom>
          <a:solidFill>
            <a:srgbClr val="0E8B7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00584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39712" y="987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價值維度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92240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Dimension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92240" y="1554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・業務流程優化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・創新與競爭優勢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・價值破壞風險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・組織準備度限制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2880360"/>
            <a:ext cx="2286000" cy="1783080"/>
          </a:xfrm>
          <a:prstGeom prst="rect">
            <a:avLst/>
          </a:prstGeom>
          <a:solidFill>
            <a:srgbClr val="0E8B7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97180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6112" y="29535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勞動力維度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Dimension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3520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・工作取代 vs. 創造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</a:t>
            </a: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人機協作增強智能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・演算法管理與監控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・角色與身份轉變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0" y="2880360"/>
            <a:ext cx="2286000" cy="1783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97180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39712" y="29535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批判維度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49224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Dimension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492240" y="3520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・生態與環境影響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・社會政治權力關係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・演算法公正與偏見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・倫理框架與監管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維度一：數據維度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機會面：大數據作為戰略資產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087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數據被描述為「AI 的燃料與石油」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(Crawford, 2021)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8600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驅動決策優化、績效提升、創新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管理與業務模式革新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(Grover et al., 2018; Mikalef et al., 2020)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6324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具備可攜性、非競爭性、高流動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性等獨特屬性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(Günther et al., 2017; Wixom et al., 2021)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4048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數據貨幣化：從數據中擷取、創造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並捕獲價值的過程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09160" y="91440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9" name="Text 12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挑戰面：治理疑慮與隱私風險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087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過度依賴大數據可能導致策略決策失誤</a:t>
            </a:r>
            <a:endParaRPr lang="en-US" sz="1200" dirty="0" smtClean="0">
              <a:solidFill>
                <a:srgbClr val="1E293B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(Aversa et al., 2018)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28600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22219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數據貨幣化比想像中更複雜，少數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組織能真正擷取價值 (Mikalef et al., 2019)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6324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29992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推斷性分析侵害隱私與自主權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(Wachter &amp; Mittelstadt, 2019)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4048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0640" y="37764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現行資料保護法未能有效保護數據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主體免受推斷分析的新風險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維度二：價值維度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173736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601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的價值創造潛力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298448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業務流程優化與營運彈性提升 (Coombs et al., 2020; Wamba-Taguimdje et al., 2020)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創新管理：克服資訊處理障礙、突破局部搜尋慣例、產生創意構想 (Haefner et al., 2021)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降低成本、縮短決策時間 (Haefner et al., 2021; Von Krogh, 2018)，增強長期競爭力 (Hagiu &amp; Wright, 2020)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為客戶創造新價值、提升營收潛力 (Davenport et al., 2020)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880360"/>
            <a:ext cx="73152" cy="1737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926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超越過度樂觀的警示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264408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許多組織未能從 AI 投資中產生價值；行為變革阻力 (Frick et al., 2021)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 AI 準備度不足是重大挑戰 (Holmström, 2022)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澳洲 Robodebt 自動化債務回收系統造成嚴重社會損害 (Rinta-Kahila et al., 2022)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「更多客戶→更多數據→ML分析→競爭優勢」因果鏈並不必然成立 (Hagiu &amp; Wright, 2020)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維度三：勞動力維度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2587752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2587752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14400"/>
            <a:ext cx="2587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悲觀面：工作取代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1463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「技術性失業」恐慌與工作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取代論述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(Frey &amp; Osborne, 2017)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487168"/>
            <a:ext cx="21945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11" name="Text 8"/>
          <p:cNvSpPr/>
          <p:nvPr/>
        </p:nvSpPr>
        <p:spPr>
          <a:xfrm>
            <a:off x="566928" y="2606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對技能的侵蝕能力在技術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發展史上前所未有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(Faraj et al., 2018)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630168"/>
            <a:ext cx="21945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13" name="Text 10"/>
          <p:cNvSpPr/>
          <p:nvPr/>
        </p:nvSpPr>
        <p:spPr>
          <a:xfrm>
            <a:off x="566928" y="3749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重複性、低創造力任務最易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被自動化，可能引發技能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退化的惡性循環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(Kaplan, 2016)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0" y="914400"/>
            <a:ext cx="2587752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914400"/>
            <a:ext cx="2587752" cy="41148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6" name="Text 13"/>
          <p:cNvSpPr/>
          <p:nvPr/>
        </p:nvSpPr>
        <p:spPr>
          <a:xfrm>
            <a:off x="3200400" y="914400"/>
            <a:ext cx="2587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中間路線：人機協作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10128" y="1463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增強智能：AI 支援、放大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人類能力而非取代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(Jarrahi et al., 2020)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474720" y="2487168"/>
            <a:ext cx="21945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19" name="Text 16"/>
          <p:cNvSpPr/>
          <p:nvPr/>
        </p:nvSpPr>
        <p:spPr>
          <a:xfrm>
            <a:off x="3310128" y="2606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情感經濟：感覺型任務仍為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人類核心競爭優勢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(Huang et al., 2019)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74720" y="3630168"/>
            <a:ext cx="21945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21" name="Text 18"/>
          <p:cNvSpPr/>
          <p:nvPr/>
        </p:nvSpPr>
        <p:spPr>
          <a:xfrm>
            <a:off x="3310128" y="3749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自動化與增強是相互依賴的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「矛盾張力」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(Raisch &amp; Krakowski, 2021)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0" y="914400"/>
            <a:ext cx="2587752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43600" y="914400"/>
            <a:ext cx="2587752" cy="41148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914400"/>
            <a:ext cx="2587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新興角色與演算法控制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53328" y="1463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演算法經紀人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(Kellogg et al., 2020)；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訓練者、解釋者、維持者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(Wilson et al., 2017)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17920" y="2487168"/>
            <a:ext cx="21945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27" name="Text 24"/>
          <p:cNvSpPr/>
          <p:nvPr/>
        </p:nvSpPr>
        <p:spPr>
          <a:xfrm>
            <a:off x="6053328" y="2606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演算法管理暗面：監控組裝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(Newlands, 2021)、身份轉變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(Strich et al., 2021)、科技壓力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(Cram et al., 2022)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17920" y="3630168"/>
            <a:ext cx="21945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29" name="Text 26"/>
          <p:cNvSpPr/>
          <p:nvPr/>
        </p:nvSpPr>
        <p:spPr>
          <a:xfrm>
            <a:off x="6053328" y="3749040"/>
            <a:ext cx="2368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演算法領導：演算法取得領導、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激勵等關鍵角色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(Jarrahi et al., 2021)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維度四：批判維度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3977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0241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987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生態面向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" y="13716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 AI 仍處萌芽階段。須整合「AI 促進永續」與「AI 本身的永續性」兩條路線。AI 開發的碳足跡需被納入衡量。(van Wynsberghe, 2021)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09160" y="914400"/>
            <a:ext cx="3977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02412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66360" y="987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數據化與監控資本主義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818888" y="13716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Zuboff (2019) 指出監控資本主義將人類經驗轉化為行為數據，不僅預測更操縱行為。數據應被視為資本而非僅是商品。(Sadowski, 2019)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2880360"/>
            <a:ext cx="3977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99008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演算法偏見與公正性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66928" y="33375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不完整訓練數據導致歧視性決策。Eubanks (2018) 稱 AADM 為「數位貧困管理工具」。Marjanovic et al. (2021) 提出「演算法污染」導致「累積劣勢」概念。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709160" y="2880360"/>
            <a:ext cx="3977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299008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66360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倫理框架與監管挑戰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18888" y="33375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缺乏通用實務監管框架來執行倫理規則。現有倫理準則被批評為理論承諾多於實際行動。工程師倫理教育與組織正向激勵皆不足。(Hagendorff, 2020)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四大維度對照摘要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708011"/>
              </p:ext>
            </p:extLst>
          </p:nvPr>
        </p:nvGraphicFramePr>
        <p:xfrm>
          <a:off x="457200" y="1005840"/>
          <a:ext cx="8229600" cy="3230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核心議題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樂觀面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(Myth)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悲觀面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(Fear)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大數據的管理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機會與風險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戰略資產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決策優化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、貨幣化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隱私侵害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數據偏見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、治理失靈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的組織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價值轉化能力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流程優化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創新驅動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、競爭優勢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投資失敗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準備度不足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、社會破壞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勞動力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對工作與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員工的衝擊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增強智能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人機協作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、新角色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技術性失業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技能侵蝕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、科技壓力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批判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倫理、社會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與環境影響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永續發展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公正框架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、反歧視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監控資本主義</a:t>
                      </a:r>
                      <a:r>
                        <a:rPr lang="zh-TW" altLang="en-US" sz="1200" dirty="0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200" dirty="0" err="1" smtClean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演算法偏見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、碳足跡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討論與理論貢獻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60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8760" y="9326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文獻演進的系統記錄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 AI 管理文獻從 2010 至 2022 年的演進，揭示極端論述模式，呈現更全面的可能性與限制。指出既有文獻多在孤立子領域中各自發展。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057400"/>
            <a:ext cx="73152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20756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四維整合框架的建構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將分散研究整合為四核心維度（數據、勞動力、價值、批判），以組織化框架呈現其疊代與相互依存關係。強調須同時考量工具性與人本性影響。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200400"/>
            <a:ext cx="73152" cy="96012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246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508760" y="32186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未來研究方向的指引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3566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辨識出 AI 管理文獻中多個被忽略的研究領域，為未來研究軌跡提供具有潛力的方向（詳見第 16 頁）。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E8ECF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實務意涵：管理者與政策制定者須橋接四個維度來制定 AI 管理策略，設定反映機會與風險的務實期望，並考量數據的社會嵌入性。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亞太地區意涵與研究限制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169164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326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亞太地區研究意涵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261872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需要在亞洲國家具體脈絡下研究負責任 AI 框架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須探討個資保護、治理與監管框架、人機共生的標準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教育勞動力與 AI 協作而非恐懼 AI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偏見如何在亞洲文化脈絡中形成與被放大，值得深入探究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880360"/>
            <a:ext cx="73152" cy="16916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898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研究限制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227832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搜尋字串與納入/排除標準的限制：排除「digital transformation」可能遺漏部分文獻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出版偏誤：較舊高引用文獻可能被偏重；排除灰色文獻、非 IS 期刊與研討會論文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社會技術觀點的取捨：排除了純技術面或僅探討社會參數的研究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部分文獻若不在 WoS、Scopus 或 Google Scholar 資料庫中則未被納入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未來研究方向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73152" cy="82296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生成式 AI（GAI）管理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探討 GAI 對數據內容管理的衝擊、非預期後果，以及如何在不放大不公正的前提下從 GAI 擷取價值。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920240"/>
            <a:ext cx="73152" cy="8229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傳統場域中的演算法管理與領導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2677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演算法管理研究多聚焦平台經濟零工，需擴展至傳統組織場域，探討差異化的挑戰與機會。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治理機制與管理的關係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32735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治理文獻仍處初期。AI 管理是「決定的制定與執行」，AI 治理是「由誰來決定」，須揭示其社會技術基石。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負責任 AI 的跨學科實踐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42793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跨學科探索演算法經紀人實踐負責任 AI 所需的教育、領導特質與組織技能，深化倫理教育。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16152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16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13,264 篇文獻中篩選出 109 篇，涵蓋 2010–2022 年間 AI 管理研究，提供結構化的整合觀點。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892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識別出四個核心維度（數據、勞動力、價值、批判），指出各維度雖相互關聯，但在既有文獻中仍多被孤立探討。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6426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社會技術系統觀點提供了超越極端論述的分析工具，有助於更務實地理解 AI 管理。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924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研究者、管理者與政策制定者應同等重視 AI 的工具性與人本性影響，在追求效率的同時正視倫理風險。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347472" cy="347472"/>
          </a:xfrm>
          <a:prstGeom prst="ellipse">
            <a:avLst/>
          </a:prstGeom>
          <a:solidFill>
            <a:srgbClr val="0E8B7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142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社會技術觀點在 AI 研究中的應用仍非常有限，本研究為 IS 領域貢獻了文獻演進記錄、整合框架與未來研究軌跡。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觀點與反思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34440"/>
            <a:ext cx="73152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280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四維框架的實用性與啟發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5544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四維框架為 AI 管理研究提供了清晰的入門地圖，特別適合定位自身研究在整體脈絡中的位置。然而在實務場景中，各維度的動態交互可能比框架呈現的更為複雜。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167128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167128"/>
            <a:ext cx="73152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212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時效性與生成式 AI 研究缺口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2487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本文搜尋截止於 2022 年 12 月，ChatGPT 甫發布不久，相關文獻尚未被納入。GAI 帶來的倫理爭議（深偽、智財權等）已成為當前最迫切的課題。作者提到的 GAI 議題格外具前瞻性。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99816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099816"/>
            <a:ext cx="73152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1455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社會技術觀點的取捨與啟示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41985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此觀點使研究能跳脫純技術或純社會的單一視角，但也排除了大量相關研究，在全面性與焦點之間有其取捨。核心啟示：AI 問題從來不只是技術問題。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32504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4032504"/>
            <a:ext cx="73152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0782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對台灣 AI 研究與政策的啟示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435254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台灣在 AI 治理立法（如個資法修訂）、產業 AI 導入策略、高等教育中 AI 倫理課程設計上，皆可從四維框架獲得系統性參考依據。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報告完畢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E8B7D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880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2EC4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謝謝大家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1334</Words>
  <Application>Microsoft Office PowerPoint</Application>
  <PresentationFormat>如螢幕大小 (16:9)</PresentationFormat>
  <Paragraphs>308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Microsoft JhengHei</vt:lpstr>
      <vt:lpstr>Arial</vt:lpstr>
      <vt:lpstr>Calibri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Management Beyond Myth and Hype</dc:title>
  <dc:subject>PptxGenJS Presentation</dc:subject>
  <dc:creator>鍾昀臻</dc:creator>
  <cp:lastModifiedBy>yunzhenz</cp:lastModifiedBy>
  <cp:revision>8</cp:revision>
  <dcterms:created xsi:type="dcterms:W3CDTF">2026-04-07T08:33:56Z</dcterms:created>
  <dcterms:modified xsi:type="dcterms:W3CDTF">2026-04-10T04:55:25Z</dcterms:modified>
</cp:coreProperties>
</file>